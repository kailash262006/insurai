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65" r:id="rId2"/>
    <p:sldId id="256" r:id="rId3"/>
    <p:sldId id="257" r:id="rId4"/>
    <p:sldId id="258" r:id="rId5"/>
    <p:sldId id="259" r:id="rId6"/>
    <p:sldId id="260" r:id="rId7"/>
    <p:sldId id="261" r:id="rId8"/>
    <p:sldId id="262" r:id="rId9"/>
    <p:sldId id="263" r:id="rId10"/>
    <p:sldId id="264" r:id="rId11"/>
  </p:sldIdLst>
  <p:sldSz cx="14630400" cy="8229600"/>
  <p:notesSz cx="8229600" cy="14630400"/>
  <p:embeddedFontLst>
    <p:embeddedFont>
      <p:font typeface="Inter" panose="020B0604020202020204"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A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64" d="100"/>
          <a:sy n="64" d="100"/>
        </p:scale>
        <p:origin x="907" y="19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122451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6FA17-8F32-629D-1503-686DEE8063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7B5B30-D7D0-090A-4279-0F952787C1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5F7059-AE68-7354-99CE-0975C784397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DBFAABA-B7AD-DEBF-BE7D-AF3011B28D96}"/>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24199991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9.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10.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097E2-B986-22A1-6B90-18F2AFCBF8C9}"/>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991D4567-003B-3F36-0F8C-6833504B9A09}"/>
              </a:ext>
            </a:extLst>
          </p:cNvPr>
          <p:cNvPicPr>
            <a:picLocks noChangeAspect="1"/>
          </p:cNvPicPr>
          <p:nvPr/>
        </p:nvPicPr>
        <p:blipFill>
          <a:blip r:embed="rId3"/>
          <a:stretch>
            <a:fillRect/>
          </a:stretch>
        </p:blipFill>
        <p:spPr>
          <a:xfrm>
            <a:off x="0" y="0"/>
            <a:ext cx="5486400" cy="8229600"/>
          </a:xfrm>
          <a:prstGeom prst="rect">
            <a:avLst/>
          </a:prstGeom>
        </p:spPr>
      </p:pic>
      <p:pic>
        <p:nvPicPr>
          <p:cNvPr id="3" name="Image 1" descr="preencoded.png">
            <a:extLst>
              <a:ext uri="{FF2B5EF4-FFF2-40B4-BE49-F238E27FC236}">
                <a16:creationId xmlns:a16="http://schemas.microsoft.com/office/drawing/2014/main" id="{111A6648-591B-EC19-E4EA-EA98AB6710AE}"/>
              </a:ext>
            </a:extLst>
          </p:cNvPr>
          <p:cNvPicPr>
            <a:picLocks noChangeAspect="1"/>
          </p:cNvPicPr>
          <p:nvPr/>
        </p:nvPicPr>
        <p:blipFill>
          <a:blip r:embed="rId4"/>
          <a:stretch>
            <a:fillRect/>
          </a:stretch>
        </p:blipFill>
        <p:spPr>
          <a:xfrm>
            <a:off x="283488" y="2752368"/>
            <a:ext cx="4919305" cy="2724864"/>
          </a:xfrm>
          <a:prstGeom prst="rect">
            <a:avLst/>
          </a:prstGeom>
        </p:spPr>
      </p:pic>
      <p:sp>
        <p:nvSpPr>
          <p:cNvPr id="4" name="Text 0">
            <a:extLst>
              <a:ext uri="{FF2B5EF4-FFF2-40B4-BE49-F238E27FC236}">
                <a16:creationId xmlns:a16="http://schemas.microsoft.com/office/drawing/2014/main" id="{0AD142E4-85F8-2F23-2BC5-85E70E98987D}"/>
              </a:ext>
            </a:extLst>
          </p:cNvPr>
          <p:cNvSpPr/>
          <p:nvPr/>
        </p:nvSpPr>
        <p:spPr>
          <a:xfrm>
            <a:off x="5769888" y="2049423"/>
            <a:ext cx="8066723" cy="1728493"/>
          </a:xfrm>
          <a:prstGeom prst="rect">
            <a:avLst/>
          </a:prstGeom>
          <a:noFill/>
          <a:ln/>
        </p:spPr>
        <p:txBody>
          <a:bodyPr wrap="square" lIns="0" tIns="0" rIns="0" bIns="0" rtlCol="0" anchor="t"/>
          <a:lstStyle/>
          <a:p>
            <a:pPr marL="0" indent="0" algn="ctr">
              <a:lnSpc>
                <a:spcPts val="6100"/>
              </a:lnSpc>
              <a:buNone/>
            </a:pPr>
            <a:r>
              <a:rPr lang="en-US" sz="4900" b="1" dirty="0" err="1">
                <a:solidFill>
                  <a:srgbClr val="F95F88"/>
                </a:solidFill>
                <a:latin typeface="Petrona Bold" pitchFamily="34" charset="0"/>
                <a:ea typeface="Petrona Bold" pitchFamily="34" charset="-122"/>
                <a:cs typeface="Petrona Bold" pitchFamily="34" charset="-120"/>
              </a:rPr>
              <a:t>InsurAI</a:t>
            </a:r>
            <a:r>
              <a:rPr lang="en-US" sz="4900" b="1" dirty="0">
                <a:solidFill>
                  <a:srgbClr val="F95F88"/>
                </a:solidFill>
                <a:latin typeface="Petrona Bold" pitchFamily="34" charset="0"/>
                <a:ea typeface="Petrona Bold" pitchFamily="34" charset="-122"/>
                <a:cs typeface="Petrona Bold" pitchFamily="34" charset="-120"/>
              </a:rPr>
              <a:t> – AI Powered Insurance Management System</a:t>
            </a:r>
            <a:endParaRPr lang="en-US" sz="4900" dirty="0"/>
          </a:p>
        </p:txBody>
      </p:sp>
      <p:sp>
        <p:nvSpPr>
          <p:cNvPr id="7" name="Rectangle 6">
            <a:extLst>
              <a:ext uri="{FF2B5EF4-FFF2-40B4-BE49-F238E27FC236}">
                <a16:creationId xmlns:a16="http://schemas.microsoft.com/office/drawing/2014/main" id="{D7386348-8785-64C6-BC65-D0F9C3C9A2C1}"/>
              </a:ext>
            </a:extLst>
          </p:cNvPr>
          <p:cNvSpPr/>
          <p:nvPr/>
        </p:nvSpPr>
        <p:spPr>
          <a:xfrm>
            <a:off x="12779022" y="7710311"/>
            <a:ext cx="1840089" cy="519289"/>
          </a:xfrm>
          <a:prstGeom prst="rect">
            <a:avLst/>
          </a:prstGeom>
          <a:solidFill>
            <a:srgbClr val="FDFAF7"/>
          </a:solidFill>
          <a:ln>
            <a:solidFill>
              <a:srgbClr val="FDFA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D4A86C1A-6740-216E-8BCA-E41B4D5C46BD}"/>
              </a:ext>
            </a:extLst>
          </p:cNvPr>
          <p:cNvSpPr txBox="1"/>
          <p:nvPr/>
        </p:nvSpPr>
        <p:spPr>
          <a:xfrm>
            <a:off x="9998243" y="6894098"/>
            <a:ext cx="4536200" cy="584775"/>
          </a:xfrm>
          <a:prstGeom prst="rect">
            <a:avLst/>
          </a:prstGeom>
          <a:noFill/>
        </p:spPr>
        <p:txBody>
          <a:bodyPr wrap="square" rtlCol="0">
            <a:spAutoFit/>
          </a:bodyPr>
          <a:lstStyle/>
          <a:p>
            <a:r>
              <a:rPr lang="en-US" sz="3200" b="1" dirty="0">
                <a:solidFill>
                  <a:srgbClr val="F95F88"/>
                </a:solidFill>
                <a:latin typeface="Petrona Bold" pitchFamily="34" charset="0"/>
                <a:ea typeface="Petrona Bold" pitchFamily="34" charset="-122"/>
                <a:cs typeface="Petrona Bold" pitchFamily="34" charset="-120"/>
              </a:rPr>
              <a:t>KAILASH GOWTHAM U</a:t>
            </a:r>
            <a:endParaRPr lang="en-IN" sz="3200" b="1" dirty="0">
              <a:latin typeface="Petrona Bold"/>
            </a:endParaRPr>
          </a:p>
        </p:txBody>
      </p:sp>
    </p:spTree>
    <p:extLst>
      <p:ext uri="{BB962C8B-B14F-4D97-AF65-F5344CB8AC3E}">
        <p14:creationId xmlns:p14="http://schemas.microsoft.com/office/powerpoint/2010/main" val="19253406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pic>
        <p:nvPicPr>
          <p:cNvPr id="3" name="Image 1" descr="preencoded.png"/>
          <p:cNvPicPr>
            <a:picLocks noChangeAspect="1"/>
          </p:cNvPicPr>
          <p:nvPr/>
        </p:nvPicPr>
        <p:blipFill>
          <a:blip r:embed="rId4"/>
          <a:stretch>
            <a:fillRect/>
          </a:stretch>
        </p:blipFill>
        <p:spPr>
          <a:xfrm>
            <a:off x="283488" y="2752368"/>
            <a:ext cx="4919305" cy="2724864"/>
          </a:xfrm>
          <a:prstGeom prst="rect">
            <a:avLst/>
          </a:prstGeom>
        </p:spPr>
      </p:pic>
      <p:sp>
        <p:nvSpPr>
          <p:cNvPr id="4" name="Text 0"/>
          <p:cNvSpPr/>
          <p:nvPr/>
        </p:nvSpPr>
        <p:spPr>
          <a:xfrm>
            <a:off x="6280190" y="2049423"/>
            <a:ext cx="7556421" cy="2338864"/>
          </a:xfrm>
          <a:prstGeom prst="rect">
            <a:avLst/>
          </a:prstGeom>
          <a:noFill/>
          <a:ln/>
        </p:spPr>
        <p:txBody>
          <a:bodyPr wrap="square" lIns="0" tIns="0" rIns="0" bIns="0" rtlCol="0" anchor="t"/>
          <a:lstStyle/>
          <a:p>
            <a:pPr marL="0" indent="0" algn="l">
              <a:lnSpc>
                <a:spcPts val="6100"/>
              </a:lnSpc>
              <a:buNone/>
            </a:pPr>
            <a:r>
              <a:rPr lang="en-US" sz="4900" b="1" dirty="0">
                <a:solidFill>
                  <a:srgbClr val="F95F88"/>
                </a:solidFill>
                <a:latin typeface="Petrona Bold" pitchFamily="34" charset="0"/>
                <a:ea typeface="Petrona Bold" pitchFamily="34" charset="-122"/>
                <a:cs typeface="Petrona Bold" pitchFamily="34" charset="-120"/>
              </a:rPr>
              <a:t>InsurAI – AI Powered Insurance Management System</a:t>
            </a:r>
            <a:endParaRPr lang="en-US" sz="4900" dirty="0"/>
          </a:p>
        </p:txBody>
      </p:sp>
      <p:sp>
        <p:nvSpPr>
          <p:cNvPr id="5" name="Text 1"/>
          <p:cNvSpPr/>
          <p:nvPr/>
        </p:nvSpPr>
        <p:spPr>
          <a:xfrm>
            <a:off x="6280190" y="4728448"/>
            <a:ext cx="7556421" cy="1451610"/>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InsurAI is an AI-powered platform that helps users and agents manage policies, process claims, and access expert consultations in one place. It also provides personalized recommendations to identify coverage gaps and reduce financial risk.</a:t>
            </a:r>
            <a:endParaRPr lang="en-US" sz="1750" dirty="0"/>
          </a:p>
        </p:txBody>
      </p:sp>
      <p:sp>
        <p:nvSpPr>
          <p:cNvPr id="7" name="Rectangle 6">
            <a:extLst>
              <a:ext uri="{FF2B5EF4-FFF2-40B4-BE49-F238E27FC236}">
                <a16:creationId xmlns:a16="http://schemas.microsoft.com/office/drawing/2014/main" id="{DB00A355-E85D-8C89-B83B-793D2863BB42}"/>
              </a:ext>
            </a:extLst>
          </p:cNvPr>
          <p:cNvSpPr/>
          <p:nvPr/>
        </p:nvSpPr>
        <p:spPr>
          <a:xfrm>
            <a:off x="12779022" y="7710311"/>
            <a:ext cx="1840089" cy="519289"/>
          </a:xfrm>
          <a:prstGeom prst="rect">
            <a:avLst/>
          </a:prstGeom>
          <a:solidFill>
            <a:srgbClr val="FDFAF7"/>
          </a:solidFill>
          <a:ln>
            <a:solidFill>
              <a:srgbClr val="FDFA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pic>
        <p:nvPicPr>
          <p:cNvPr id="3" name="Image 1" descr="preencoded.png"/>
          <p:cNvPicPr>
            <a:picLocks noChangeAspect="1"/>
          </p:cNvPicPr>
          <p:nvPr/>
        </p:nvPicPr>
        <p:blipFill>
          <a:blip r:embed="rId4"/>
          <a:stretch>
            <a:fillRect/>
          </a:stretch>
        </p:blipFill>
        <p:spPr>
          <a:xfrm>
            <a:off x="9427488" y="2950488"/>
            <a:ext cx="4919305" cy="2328505"/>
          </a:xfrm>
          <a:prstGeom prst="rect">
            <a:avLst/>
          </a:prstGeom>
        </p:spPr>
      </p:pic>
      <p:sp>
        <p:nvSpPr>
          <p:cNvPr id="4" name="Text 0"/>
          <p:cNvSpPr/>
          <p:nvPr/>
        </p:nvSpPr>
        <p:spPr>
          <a:xfrm>
            <a:off x="793790" y="2422327"/>
            <a:ext cx="6237684" cy="779621"/>
          </a:xfrm>
          <a:prstGeom prst="rect">
            <a:avLst/>
          </a:prstGeom>
          <a:noFill/>
          <a:ln/>
        </p:spPr>
        <p:txBody>
          <a:bodyPr wrap="none" lIns="0" tIns="0" rIns="0" bIns="0" rtlCol="0" anchor="t"/>
          <a:lstStyle/>
          <a:p>
            <a:pPr marL="0" indent="0" algn="l">
              <a:lnSpc>
                <a:spcPts val="6100"/>
              </a:lnSpc>
              <a:buNone/>
            </a:pPr>
            <a:r>
              <a:rPr lang="en-US" sz="4900" b="1" dirty="0">
                <a:solidFill>
                  <a:srgbClr val="F95F88"/>
                </a:solidFill>
                <a:latin typeface="Petrona Bold" pitchFamily="34" charset="0"/>
                <a:ea typeface="Petrona Bold" pitchFamily="34" charset="-122"/>
                <a:cs typeface="Petrona Bold" pitchFamily="34" charset="-120"/>
              </a:rPr>
              <a:t>Agent Dashboard</a:t>
            </a:r>
            <a:endParaRPr lang="en-US" sz="4900" dirty="0"/>
          </a:p>
        </p:txBody>
      </p:sp>
      <p:sp>
        <p:nvSpPr>
          <p:cNvPr id="5" name="Text 1"/>
          <p:cNvSpPr/>
          <p:nvPr/>
        </p:nvSpPr>
        <p:spPr>
          <a:xfrm>
            <a:off x="793790" y="3292673"/>
            <a:ext cx="5871448" cy="467678"/>
          </a:xfrm>
          <a:prstGeom prst="rect">
            <a:avLst/>
          </a:prstGeom>
          <a:noFill/>
          <a:ln/>
        </p:spPr>
        <p:txBody>
          <a:bodyPr wrap="none" lIns="0" tIns="0" rIns="0" bIns="0" rtlCol="0" anchor="t"/>
          <a:lstStyle/>
          <a:p>
            <a:pPr marL="0" indent="0" algn="l">
              <a:lnSpc>
                <a:spcPts val="3650"/>
              </a:lnSpc>
              <a:buNone/>
            </a:pPr>
            <a:r>
              <a:rPr lang="en-US" sz="2900" b="1" dirty="0">
                <a:solidFill>
                  <a:srgbClr val="F95F88"/>
                </a:solidFill>
                <a:latin typeface="Petrona Bold" pitchFamily="34" charset="0"/>
                <a:ea typeface="Petrona Bold" pitchFamily="34" charset="-122"/>
                <a:cs typeface="Petrona Bold" pitchFamily="34" charset="-120"/>
              </a:rPr>
              <a:t>Overview &amp; Performance Tracking</a:t>
            </a:r>
            <a:endParaRPr lang="en-US" sz="2900" dirty="0"/>
          </a:p>
        </p:txBody>
      </p:sp>
      <p:sp>
        <p:nvSpPr>
          <p:cNvPr id="6" name="Text 2"/>
          <p:cNvSpPr/>
          <p:nvPr/>
        </p:nvSpPr>
        <p:spPr>
          <a:xfrm>
            <a:off x="793790" y="4100512"/>
            <a:ext cx="7556421"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The Agent Dashboard gives a clear view of performance and daily activity, including appointments, bookings, and consultations.</a:t>
            </a:r>
            <a:endParaRPr lang="en-US" sz="1750" dirty="0"/>
          </a:p>
        </p:txBody>
      </p:sp>
      <p:sp>
        <p:nvSpPr>
          <p:cNvPr id="7" name="Text 3"/>
          <p:cNvSpPr/>
          <p:nvPr/>
        </p:nvSpPr>
        <p:spPr>
          <a:xfrm>
            <a:off x="793790" y="5081468"/>
            <a:ext cx="7556421"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Weekly charts, today's consultations, and upcoming schedules are highlighted for quick action and easier workload management.</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11279" y="558879"/>
            <a:ext cx="7585115" cy="698540"/>
          </a:xfrm>
          <a:prstGeom prst="rect">
            <a:avLst/>
          </a:prstGeom>
          <a:noFill/>
          <a:ln/>
        </p:spPr>
        <p:txBody>
          <a:bodyPr wrap="none" lIns="0" tIns="0" rIns="0" bIns="0" rtlCol="0" anchor="t"/>
          <a:lstStyle/>
          <a:p>
            <a:pPr marL="0" indent="0" algn="l">
              <a:lnSpc>
                <a:spcPts val="5500"/>
              </a:lnSpc>
              <a:buNone/>
            </a:pPr>
            <a:r>
              <a:rPr lang="en-US" sz="4400" b="1" dirty="0">
                <a:solidFill>
                  <a:srgbClr val="F95F88"/>
                </a:solidFill>
                <a:latin typeface="Petrona Bold" pitchFamily="34" charset="0"/>
                <a:ea typeface="Petrona Bold" pitchFamily="34" charset="-122"/>
                <a:cs typeface="Petrona Bold" pitchFamily="34" charset="-120"/>
              </a:rPr>
              <a:t>Agent Panel &amp; Set Availability</a:t>
            </a:r>
            <a:endParaRPr lang="en-US" sz="4400" dirty="0"/>
          </a:p>
        </p:txBody>
      </p:sp>
      <p:pic>
        <p:nvPicPr>
          <p:cNvPr id="3" name="Image 0" descr="preencoded.png"/>
          <p:cNvPicPr>
            <a:picLocks noChangeAspect="1"/>
          </p:cNvPicPr>
          <p:nvPr/>
        </p:nvPicPr>
        <p:blipFill>
          <a:blip r:embed="rId3"/>
          <a:stretch>
            <a:fillRect/>
          </a:stretch>
        </p:blipFill>
        <p:spPr>
          <a:xfrm>
            <a:off x="711279" y="1735336"/>
            <a:ext cx="6356032" cy="3067050"/>
          </a:xfrm>
          <a:prstGeom prst="rect">
            <a:avLst/>
          </a:prstGeom>
        </p:spPr>
      </p:pic>
      <p:pic>
        <p:nvPicPr>
          <p:cNvPr id="4" name="Image 1" descr="preencoded.png"/>
          <p:cNvPicPr>
            <a:picLocks noChangeAspect="1"/>
          </p:cNvPicPr>
          <p:nvPr/>
        </p:nvPicPr>
        <p:blipFill>
          <a:blip r:embed="rId4"/>
          <a:stretch>
            <a:fillRect/>
          </a:stretch>
        </p:blipFill>
        <p:spPr>
          <a:xfrm>
            <a:off x="7570708" y="1735336"/>
            <a:ext cx="5600581" cy="2664500"/>
          </a:xfrm>
          <a:prstGeom prst="rect">
            <a:avLst/>
          </a:prstGeom>
        </p:spPr>
      </p:pic>
      <p:sp>
        <p:nvSpPr>
          <p:cNvPr id="5" name="Shape 1"/>
          <p:cNvSpPr/>
          <p:nvPr/>
        </p:nvSpPr>
        <p:spPr>
          <a:xfrm>
            <a:off x="711279" y="5211961"/>
            <a:ext cx="3165396" cy="2462332"/>
          </a:xfrm>
          <a:prstGeom prst="roundRect">
            <a:avLst>
              <a:gd name="adj" fmla="val 19810"/>
            </a:avLst>
          </a:prstGeom>
          <a:solidFill>
            <a:srgbClr val="E0D7F4"/>
          </a:solidFill>
          <a:ln w="7620">
            <a:solidFill>
              <a:srgbClr val="C6BDDA"/>
            </a:solidFill>
            <a:prstDash val="solid"/>
          </a:ln>
        </p:spPr>
      </p:sp>
      <p:sp>
        <p:nvSpPr>
          <p:cNvPr id="6" name="Text 2"/>
          <p:cNvSpPr/>
          <p:nvPr/>
        </p:nvSpPr>
        <p:spPr>
          <a:xfrm>
            <a:off x="922139" y="5422821"/>
            <a:ext cx="2743676" cy="698421"/>
          </a:xfrm>
          <a:prstGeom prst="rect">
            <a:avLst/>
          </a:prstGeom>
          <a:noFill/>
          <a:ln/>
        </p:spPr>
        <p:txBody>
          <a:bodyPr wrap="square" lIns="0" tIns="0" rIns="0" bIns="0" rtlCol="0" anchor="t"/>
          <a:lstStyle/>
          <a:p>
            <a:pPr marL="0" indent="0" algn="l">
              <a:lnSpc>
                <a:spcPts val="2750"/>
              </a:lnSpc>
              <a:buNone/>
            </a:pPr>
            <a:r>
              <a:rPr lang="en-US" sz="2200" b="1" dirty="0">
                <a:solidFill>
                  <a:srgbClr val="272525"/>
                </a:solidFill>
                <a:latin typeface="Petrona Bold" pitchFamily="34" charset="0"/>
                <a:ea typeface="Petrona Bold" pitchFamily="34" charset="-122"/>
                <a:cs typeface="Petrona Bold" pitchFamily="34" charset="-120"/>
              </a:rPr>
              <a:t>Central Control Panel</a:t>
            </a:r>
            <a:endParaRPr lang="en-US" sz="2200" dirty="0"/>
          </a:p>
        </p:txBody>
      </p:sp>
      <p:sp>
        <p:nvSpPr>
          <p:cNvPr id="7" name="Text 3"/>
          <p:cNvSpPr/>
          <p:nvPr/>
        </p:nvSpPr>
        <p:spPr>
          <a:xfrm>
            <a:off x="922139" y="6230422"/>
            <a:ext cx="2743676" cy="1233011"/>
          </a:xfrm>
          <a:prstGeom prst="rect">
            <a:avLst/>
          </a:prstGeom>
          <a:noFill/>
          <a:ln/>
        </p:spPr>
        <p:txBody>
          <a:bodyPr wrap="square" lIns="0" tIns="0" rIns="0" bIns="0" rtlCol="0" anchor="t"/>
          <a:lstStyle/>
          <a:p>
            <a:pPr marL="0" indent="0" algn="l">
              <a:lnSpc>
                <a:spcPts val="2400"/>
              </a:lnSpc>
              <a:buNone/>
            </a:pPr>
            <a:r>
              <a:rPr lang="en-US" sz="1600" dirty="0">
                <a:solidFill>
                  <a:srgbClr val="272525"/>
                </a:solidFill>
                <a:latin typeface="Inter" pitchFamily="34" charset="0"/>
                <a:ea typeface="Inter" pitchFamily="34" charset="-122"/>
                <a:cs typeface="Inter" pitchFamily="34" charset="-120"/>
              </a:rPr>
              <a:t>Manage customer interactions from one interface with visibility into scheduled activities</a:t>
            </a:r>
            <a:endParaRPr lang="en-US" sz="1600" dirty="0"/>
          </a:p>
        </p:txBody>
      </p:sp>
      <p:sp>
        <p:nvSpPr>
          <p:cNvPr id="8" name="Shape 4"/>
          <p:cNvSpPr/>
          <p:nvPr/>
        </p:nvSpPr>
        <p:spPr>
          <a:xfrm>
            <a:off x="4058722" y="5211961"/>
            <a:ext cx="3165396" cy="2462332"/>
          </a:xfrm>
          <a:prstGeom prst="roundRect">
            <a:avLst>
              <a:gd name="adj" fmla="val 19810"/>
            </a:avLst>
          </a:prstGeom>
          <a:solidFill>
            <a:srgbClr val="E0D7F4"/>
          </a:solidFill>
          <a:ln w="7620">
            <a:solidFill>
              <a:srgbClr val="C6BDDA"/>
            </a:solidFill>
            <a:prstDash val="solid"/>
          </a:ln>
        </p:spPr>
      </p:sp>
      <p:sp>
        <p:nvSpPr>
          <p:cNvPr id="9" name="Text 5"/>
          <p:cNvSpPr/>
          <p:nvPr/>
        </p:nvSpPr>
        <p:spPr>
          <a:xfrm>
            <a:off x="4269581" y="5422821"/>
            <a:ext cx="2743676" cy="698421"/>
          </a:xfrm>
          <a:prstGeom prst="rect">
            <a:avLst/>
          </a:prstGeom>
          <a:noFill/>
          <a:ln/>
        </p:spPr>
        <p:txBody>
          <a:bodyPr wrap="square" lIns="0" tIns="0" rIns="0" bIns="0" rtlCol="0" anchor="t"/>
          <a:lstStyle/>
          <a:p>
            <a:pPr marL="0" indent="0" algn="l">
              <a:lnSpc>
                <a:spcPts val="2750"/>
              </a:lnSpc>
              <a:buNone/>
            </a:pPr>
            <a:r>
              <a:rPr lang="en-US" sz="2200" b="1" dirty="0">
                <a:solidFill>
                  <a:srgbClr val="272525"/>
                </a:solidFill>
                <a:latin typeface="Petrona Bold" pitchFamily="34" charset="0"/>
                <a:ea typeface="Petrona Bold" pitchFamily="34" charset="-122"/>
                <a:cs typeface="Petrona Bold" pitchFamily="34" charset="-120"/>
              </a:rPr>
              <a:t>Complete Appointments</a:t>
            </a:r>
            <a:endParaRPr lang="en-US" sz="2200" dirty="0"/>
          </a:p>
        </p:txBody>
      </p:sp>
      <p:sp>
        <p:nvSpPr>
          <p:cNvPr id="10" name="Text 6"/>
          <p:cNvSpPr/>
          <p:nvPr/>
        </p:nvSpPr>
        <p:spPr>
          <a:xfrm>
            <a:off x="4269581" y="6230422"/>
            <a:ext cx="2743676" cy="1233011"/>
          </a:xfrm>
          <a:prstGeom prst="rect">
            <a:avLst/>
          </a:prstGeom>
          <a:noFill/>
          <a:ln/>
        </p:spPr>
        <p:txBody>
          <a:bodyPr wrap="square" lIns="0" tIns="0" rIns="0" bIns="0" rtlCol="0" anchor="t"/>
          <a:lstStyle/>
          <a:p>
            <a:pPr marL="0" indent="0" algn="l">
              <a:lnSpc>
                <a:spcPts val="2400"/>
              </a:lnSpc>
              <a:buNone/>
            </a:pPr>
            <a:r>
              <a:rPr lang="en-US" sz="1600" dirty="0">
                <a:solidFill>
                  <a:srgbClr val="272525"/>
                </a:solidFill>
                <a:latin typeface="Inter" pitchFamily="34" charset="0"/>
                <a:ea typeface="Inter" pitchFamily="34" charset="-122"/>
                <a:cs typeface="Inter" pitchFamily="34" charset="-120"/>
              </a:rPr>
              <a:t>Mark consultations complete or cancel appointments with one-click actions</a:t>
            </a:r>
            <a:endParaRPr lang="en-US" sz="1600" dirty="0"/>
          </a:p>
        </p:txBody>
      </p:sp>
      <p:sp>
        <p:nvSpPr>
          <p:cNvPr id="11" name="Shape 7"/>
          <p:cNvSpPr/>
          <p:nvPr/>
        </p:nvSpPr>
        <p:spPr>
          <a:xfrm>
            <a:off x="7406164" y="5211961"/>
            <a:ext cx="3165396" cy="2462332"/>
          </a:xfrm>
          <a:prstGeom prst="roundRect">
            <a:avLst>
              <a:gd name="adj" fmla="val 19810"/>
            </a:avLst>
          </a:prstGeom>
          <a:solidFill>
            <a:srgbClr val="E0D7F4"/>
          </a:solidFill>
          <a:ln w="7620">
            <a:solidFill>
              <a:srgbClr val="C6BDDA"/>
            </a:solidFill>
            <a:prstDash val="solid"/>
          </a:ln>
        </p:spPr>
      </p:sp>
      <p:sp>
        <p:nvSpPr>
          <p:cNvPr id="12" name="Text 8"/>
          <p:cNvSpPr/>
          <p:nvPr/>
        </p:nvSpPr>
        <p:spPr>
          <a:xfrm>
            <a:off x="7617023" y="5422821"/>
            <a:ext cx="2743676" cy="34921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Petrona Bold" pitchFamily="34" charset="0"/>
                <a:ea typeface="Petrona Bold" pitchFamily="34" charset="-122"/>
                <a:cs typeface="Petrona Bold" pitchFamily="34" charset="-120"/>
              </a:rPr>
              <a:t>Set Availability</a:t>
            </a:r>
            <a:endParaRPr lang="en-US" sz="2200" dirty="0"/>
          </a:p>
        </p:txBody>
      </p:sp>
      <p:sp>
        <p:nvSpPr>
          <p:cNvPr id="13" name="Text 9"/>
          <p:cNvSpPr/>
          <p:nvPr/>
        </p:nvSpPr>
        <p:spPr>
          <a:xfrm>
            <a:off x="7617023" y="5881211"/>
            <a:ext cx="2743676" cy="1233011"/>
          </a:xfrm>
          <a:prstGeom prst="rect">
            <a:avLst/>
          </a:prstGeom>
          <a:noFill/>
          <a:ln/>
        </p:spPr>
        <p:txBody>
          <a:bodyPr wrap="square" lIns="0" tIns="0" rIns="0" bIns="0" rtlCol="0" anchor="t"/>
          <a:lstStyle/>
          <a:p>
            <a:pPr marL="0" indent="0" algn="l">
              <a:lnSpc>
                <a:spcPts val="2400"/>
              </a:lnSpc>
              <a:buNone/>
            </a:pPr>
            <a:r>
              <a:rPr lang="en-US" sz="1600" dirty="0">
                <a:solidFill>
                  <a:srgbClr val="272525"/>
                </a:solidFill>
                <a:latin typeface="Inter" pitchFamily="34" charset="0"/>
                <a:ea typeface="Inter" pitchFamily="34" charset="-122"/>
                <a:cs typeface="Inter" pitchFamily="34" charset="-120"/>
              </a:rPr>
              <a:t>Define consultation windows for smoother scheduling and better time management</a:t>
            </a:r>
            <a:endParaRPr lang="en-US" sz="1600" dirty="0"/>
          </a:p>
        </p:txBody>
      </p:sp>
      <p:sp>
        <p:nvSpPr>
          <p:cNvPr id="14" name="Shape 10"/>
          <p:cNvSpPr/>
          <p:nvPr/>
        </p:nvSpPr>
        <p:spPr>
          <a:xfrm>
            <a:off x="10753606" y="5211961"/>
            <a:ext cx="3165515" cy="2462332"/>
          </a:xfrm>
          <a:prstGeom prst="roundRect">
            <a:avLst>
              <a:gd name="adj" fmla="val 19810"/>
            </a:avLst>
          </a:prstGeom>
          <a:solidFill>
            <a:srgbClr val="E0D7F4"/>
          </a:solidFill>
          <a:ln w="7620">
            <a:solidFill>
              <a:srgbClr val="C6BDDA"/>
            </a:solidFill>
            <a:prstDash val="solid"/>
          </a:ln>
        </p:spPr>
      </p:sp>
      <p:sp>
        <p:nvSpPr>
          <p:cNvPr id="15" name="Text 11"/>
          <p:cNvSpPr/>
          <p:nvPr/>
        </p:nvSpPr>
        <p:spPr>
          <a:xfrm>
            <a:off x="10964466" y="5422821"/>
            <a:ext cx="2743795" cy="34921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Petrona Bold" pitchFamily="34" charset="0"/>
                <a:ea typeface="Petrona Bold" pitchFamily="34" charset="-122"/>
                <a:cs typeface="Petrona Bold" pitchFamily="34" charset="-120"/>
              </a:rPr>
              <a:t>Structured View</a:t>
            </a:r>
            <a:endParaRPr lang="en-US" sz="2200" dirty="0"/>
          </a:p>
        </p:txBody>
      </p:sp>
      <p:sp>
        <p:nvSpPr>
          <p:cNvPr id="16" name="Text 12"/>
          <p:cNvSpPr/>
          <p:nvPr/>
        </p:nvSpPr>
        <p:spPr>
          <a:xfrm>
            <a:off x="10964466" y="5881211"/>
            <a:ext cx="2743795" cy="924758"/>
          </a:xfrm>
          <a:prstGeom prst="rect">
            <a:avLst/>
          </a:prstGeom>
          <a:noFill/>
          <a:ln/>
        </p:spPr>
        <p:txBody>
          <a:bodyPr wrap="square" lIns="0" tIns="0" rIns="0" bIns="0" rtlCol="0" anchor="t"/>
          <a:lstStyle/>
          <a:p>
            <a:pPr marL="0" indent="0" algn="l">
              <a:lnSpc>
                <a:spcPts val="2400"/>
              </a:lnSpc>
              <a:buNone/>
            </a:pPr>
            <a:r>
              <a:rPr lang="en-US" sz="1600" dirty="0">
                <a:solidFill>
                  <a:srgbClr val="272525"/>
                </a:solidFill>
                <a:latin typeface="Inter" pitchFamily="34" charset="0"/>
                <a:ea typeface="Inter" pitchFamily="34" charset="-122"/>
                <a:cs typeface="Inter" pitchFamily="34" charset="-120"/>
              </a:rPr>
              <a:t>See scheduled activities and customer appointments in chronological order</a:t>
            </a:r>
            <a:endParaRPr lang="en-US" sz="1600" dirty="0"/>
          </a:p>
        </p:txBody>
      </p:sp>
      <p:sp>
        <p:nvSpPr>
          <p:cNvPr id="17" name="Rectangle 16">
            <a:extLst>
              <a:ext uri="{FF2B5EF4-FFF2-40B4-BE49-F238E27FC236}">
                <a16:creationId xmlns:a16="http://schemas.microsoft.com/office/drawing/2014/main" id="{A7E9E2FB-D3AB-46B8-8420-B045C2D1FB30}"/>
              </a:ext>
            </a:extLst>
          </p:cNvPr>
          <p:cNvSpPr/>
          <p:nvPr/>
        </p:nvSpPr>
        <p:spPr>
          <a:xfrm>
            <a:off x="12779022" y="7699022"/>
            <a:ext cx="1840089" cy="519289"/>
          </a:xfrm>
          <a:prstGeom prst="rect">
            <a:avLst/>
          </a:prstGeom>
          <a:solidFill>
            <a:srgbClr val="FDFAF7"/>
          </a:solidFill>
          <a:ln>
            <a:solidFill>
              <a:srgbClr val="FDFA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60095" y="743069"/>
            <a:ext cx="9443204" cy="746522"/>
          </a:xfrm>
          <a:prstGeom prst="rect">
            <a:avLst/>
          </a:prstGeom>
          <a:noFill/>
          <a:ln/>
        </p:spPr>
        <p:txBody>
          <a:bodyPr wrap="none" lIns="0" tIns="0" rIns="0" bIns="0" rtlCol="0" anchor="t"/>
          <a:lstStyle/>
          <a:p>
            <a:pPr marL="0" indent="0" algn="l">
              <a:lnSpc>
                <a:spcPts val="5850"/>
              </a:lnSpc>
              <a:buNone/>
            </a:pPr>
            <a:r>
              <a:rPr lang="en-US" sz="4700" b="1" dirty="0">
                <a:solidFill>
                  <a:srgbClr val="F95F88"/>
                </a:solidFill>
                <a:latin typeface="Petrona Bold" pitchFamily="34" charset="0"/>
                <a:ea typeface="Petrona Bold" pitchFamily="34" charset="-122"/>
                <a:cs typeface="Petrona Bold" pitchFamily="34" charset="-120"/>
              </a:rPr>
              <a:t>My Customers &amp; Policy Suggestion</a:t>
            </a:r>
            <a:endParaRPr lang="en-US" sz="4700" dirty="0"/>
          </a:p>
        </p:txBody>
      </p:sp>
      <p:sp>
        <p:nvSpPr>
          <p:cNvPr id="3" name="Shape 1"/>
          <p:cNvSpPr/>
          <p:nvPr/>
        </p:nvSpPr>
        <p:spPr>
          <a:xfrm>
            <a:off x="760095" y="1801416"/>
            <a:ext cx="3121581" cy="2000845"/>
          </a:xfrm>
          <a:prstGeom prst="roundRect">
            <a:avLst>
              <a:gd name="adj" fmla="val 26050"/>
            </a:avLst>
          </a:prstGeom>
          <a:solidFill>
            <a:srgbClr val="E0D7F4"/>
          </a:solidFill>
          <a:ln w="7620">
            <a:solidFill>
              <a:srgbClr val="C6BDDA"/>
            </a:solidFill>
            <a:prstDash val="solid"/>
          </a:ln>
        </p:spPr>
      </p:sp>
      <p:sp>
        <p:nvSpPr>
          <p:cNvPr id="4" name="Text 2"/>
          <p:cNvSpPr/>
          <p:nvPr/>
        </p:nvSpPr>
        <p:spPr>
          <a:xfrm>
            <a:off x="984885" y="2026206"/>
            <a:ext cx="2672001" cy="373261"/>
          </a:xfrm>
          <a:prstGeom prst="rect">
            <a:avLst/>
          </a:prstGeom>
          <a:noFill/>
          <a:ln/>
        </p:spPr>
        <p:txBody>
          <a:bodyPr wrap="none" lIns="0" tIns="0" rIns="0" bIns="0" rtlCol="0" anchor="t"/>
          <a:lstStyle/>
          <a:p>
            <a:pPr marL="0" indent="0" algn="l">
              <a:lnSpc>
                <a:spcPts val="2900"/>
              </a:lnSpc>
              <a:buNone/>
            </a:pPr>
            <a:r>
              <a:rPr lang="en-US" sz="2350" b="1" dirty="0">
                <a:solidFill>
                  <a:srgbClr val="272525"/>
                </a:solidFill>
                <a:latin typeface="Petrona Bold" pitchFamily="34" charset="0"/>
                <a:ea typeface="Petrona Bold" pitchFamily="34" charset="-122"/>
                <a:cs typeface="Petrona Bold" pitchFamily="34" charset="-120"/>
              </a:rPr>
              <a:t>Customer Details</a:t>
            </a:r>
            <a:endParaRPr lang="en-US" sz="2350" dirty="0"/>
          </a:p>
        </p:txBody>
      </p:sp>
      <p:sp>
        <p:nvSpPr>
          <p:cNvPr id="5" name="Text 3"/>
          <p:cNvSpPr/>
          <p:nvPr/>
        </p:nvSpPr>
        <p:spPr>
          <a:xfrm>
            <a:off x="984885" y="2524125"/>
            <a:ext cx="2672001" cy="680085"/>
          </a:xfrm>
          <a:prstGeom prst="rect">
            <a:avLst/>
          </a:prstGeom>
          <a:noFill/>
          <a:ln/>
        </p:spPr>
        <p:txBody>
          <a:bodyPr wrap="square" lIns="0" tIns="0" rIns="0" bIns="0" rtlCol="0" anchor="t"/>
          <a:lstStyle/>
          <a:p>
            <a:pPr marL="0" indent="0" algn="l">
              <a:lnSpc>
                <a:spcPts val="2650"/>
              </a:lnSpc>
              <a:buNone/>
            </a:pPr>
            <a:r>
              <a:rPr lang="en-US" sz="1700" dirty="0">
                <a:solidFill>
                  <a:srgbClr val="272525"/>
                </a:solidFill>
                <a:latin typeface="Inter" pitchFamily="34" charset="0"/>
                <a:ea typeface="Inter" pitchFamily="34" charset="-122"/>
                <a:cs typeface="Inter" pitchFamily="34" charset="-120"/>
              </a:rPr>
              <a:t>View profiles, policy history, and contact info.</a:t>
            </a:r>
            <a:endParaRPr lang="en-US" sz="1700" dirty="0"/>
          </a:p>
        </p:txBody>
      </p:sp>
      <p:sp>
        <p:nvSpPr>
          <p:cNvPr id="6" name="Shape 4"/>
          <p:cNvSpPr/>
          <p:nvPr/>
        </p:nvSpPr>
        <p:spPr>
          <a:xfrm>
            <a:off x="4089559" y="1801416"/>
            <a:ext cx="3121700" cy="2000845"/>
          </a:xfrm>
          <a:prstGeom prst="roundRect">
            <a:avLst>
              <a:gd name="adj" fmla="val 26050"/>
            </a:avLst>
          </a:prstGeom>
          <a:solidFill>
            <a:srgbClr val="E0D7F4"/>
          </a:solidFill>
          <a:ln w="7620">
            <a:solidFill>
              <a:srgbClr val="C6BDDA"/>
            </a:solidFill>
            <a:prstDash val="solid"/>
          </a:ln>
        </p:spPr>
      </p:sp>
      <p:sp>
        <p:nvSpPr>
          <p:cNvPr id="7" name="Text 5"/>
          <p:cNvSpPr/>
          <p:nvPr/>
        </p:nvSpPr>
        <p:spPr>
          <a:xfrm>
            <a:off x="4314349" y="2026206"/>
            <a:ext cx="2672120" cy="746522"/>
          </a:xfrm>
          <a:prstGeom prst="rect">
            <a:avLst/>
          </a:prstGeom>
          <a:noFill/>
          <a:ln/>
        </p:spPr>
        <p:txBody>
          <a:bodyPr wrap="square" lIns="0" tIns="0" rIns="0" bIns="0" rtlCol="0" anchor="t"/>
          <a:lstStyle/>
          <a:p>
            <a:pPr marL="0" indent="0" algn="l">
              <a:lnSpc>
                <a:spcPts val="2900"/>
              </a:lnSpc>
              <a:buNone/>
            </a:pPr>
            <a:r>
              <a:rPr lang="en-US" sz="2350" b="1" dirty="0">
                <a:solidFill>
                  <a:srgbClr val="272525"/>
                </a:solidFill>
                <a:latin typeface="Petrona Bold" pitchFamily="34" charset="0"/>
                <a:ea typeface="Petrona Bold" pitchFamily="34" charset="-122"/>
                <a:cs typeface="Petrona Bold" pitchFamily="34" charset="-120"/>
              </a:rPr>
              <a:t>Interaction Tracking</a:t>
            </a:r>
            <a:endParaRPr lang="en-US" sz="2350" dirty="0"/>
          </a:p>
        </p:txBody>
      </p:sp>
      <p:sp>
        <p:nvSpPr>
          <p:cNvPr id="8" name="Text 6"/>
          <p:cNvSpPr/>
          <p:nvPr/>
        </p:nvSpPr>
        <p:spPr>
          <a:xfrm>
            <a:off x="4314349" y="2897386"/>
            <a:ext cx="2672120" cy="680085"/>
          </a:xfrm>
          <a:prstGeom prst="rect">
            <a:avLst/>
          </a:prstGeom>
          <a:noFill/>
          <a:ln/>
        </p:spPr>
        <p:txBody>
          <a:bodyPr wrap="square" lIns="0" tIns="0" rIns="0" bIns="0" rtlCol="0" anchor="t"/>
          <a:lstStyle/>
          <a:p>
            <a:pPr marL="0" indent="0" algn="l">
              <a:lnSpc>
                <a:spcPts val="2650"/>
              </a:lnSpc>
              <a:buNone/>
            </a:pPr>
            <a:r>
              <a:rPr lang="en-US" sz="1700" dirty="0">
                <a:solidFill>
                  <a:srgbClr val="272525"/>
                </a:solidFill>
                <a:latin typeface="Inter" pitchFamily="34" charset="0"/>
                <a:ea typeface="Inter" pitchFamily="34" charset="-122"/>
                <a:cs typeface="Inter" pitchFamily="34" charset="-120"/>
              </a:rPr>
              <a:t>Track consultation history for better context.</a:t>
            </a:r>
            <a:endParaRPr lang="en-US" sz="1700" dirty="0"/>
          </a:p>
        </p:txBody>
      </p:sp>
      <p:sp>
        <p:nvSpPr>
          <p:cNvPr id="9" name="Shape 7"/>
          <p:cNvSpPr/>
          <p:nvPr/>
        </p:nvSpPr>
        <p:spPr>
          <a:xfrm>
            <a:off x="7419142" y="1801416"/>
            <a:ext cx="3121581" cy="2000845"/>
          </a:xfrm>
          <a:prstGeom prst="roundRect">
            <a:avLst>
              <a:gd name="adj" fmla="val 26050"/>
            </a:avLst>
          </a:prstGeom>
          <a:solidFill>
            <a:srgbClr val="E0D7F4"/>
          </a:solidFill>
          <a:ln w="7620">
            <a:solidFill>
              <a:srgbClr val="C6BDDA"/>
            </a:solidFill>
            <a:prstDash val="solid"/>
          </a:ln>
        </p:spPr>
      </p:sp>
      <p:sp>
        <p:nvSpPr>
          <p:cNvPr id="10" name="Text 8"/>
          <p:cNvSpPr/>
          <p:nvPr/>
        </p:nvSpPr>
        <p:spPr>
          <a:xfrm>
            <a:off x="7643932" y="2026206"/>
            <a:ext cx="2672001" cy="373261"/>
          </a:xfrm>
          <a:prstGeom prst="rect">
            <a:avLst/>
          </a:prstGeom>
          <a:noFill/>
          <a:ln/>
        </p:spPr>
        <p:txBody>
          <a:bodyPr wrap="none" lIns="0" tIns="0" rIns="0" bIns="0" rtlCol="0" anchor="t"/>
          <a:lstStyle/>
          <a:p>
            <a:pPr marL="0" indent="0" algn="l">
              <a:lnSpc>
                <a:spcPts val="2900"/>
              </a:lnSpc>
              <a:buNone/>
            </a:pPr>
            <a:r>
              <a:rPr lang="en-US" sz="2350" b="1" dirty="0">
                <a:solidFill>
                  <a:srgbClr val="272525"/>
                </a:solidFill>
                <a:latin typeface="Petrona Bold" pitchFamily="34" charset="0"/>
                <a:ea typeface="Petrona Bold" pitchFamily="34" charset="-122"/>
                <a:cs typeface="Petrona Bold" pitchFamily="34" charset="-120"/>
              </a:rPr>
              <a:t>AI Policy Matching</a:t>
            </a:r>
            <a:endParaRPr lang="en-US" sz="2350" dirty="0"/>
          </a:p>
        </p:txBody>
      </p:sp>
      <p:sp>
        <p:nvSpPr>
          <p:cNvPr id="11" name="Text 9"/>
          <p:cNvSpPr/>
          <p:nvPr/>
        </p:nvSpPr>
        <p:spPr>
          <a:xfrm>
            <a:off x="7643932" y="2524125"/>
            <a:ext cx="2672001" cy="1020128"/>
          </a:xfrm>
          <a:prstGeom prst="rect">
            <a:avLst/>
          </a:prstGeom>
          <a:noFill/>
          <a:ln/>
        </p:spPr>
        <p:txBody>
          <a:bodyPr wrap="square" lIns="0" tIns="0" rIns="0" bIns="0" rtlCol="0" anchor="t"/>
          <a:lstStyle/>
          <a:p>
            <a:pPr marL="0" indent="0" algn="l">
              <a:lnSpc>
                <a:spcPts val="2650"/>
              </a:lnSpc>
              <a:buNone/>
            </a:pPr>
            <a:r>
              <a:rPr lang="en-US" sz="1700" dirty="0">
                <a:solidFill>
                  <a:srgbClr val="272525"/>
                </a:solidFill>
                <a:latin typeface="Inter" pitchFamily="34" charset="0"/>
                <a:ea typeface="Inter" pitchFamily="34" charset="-122"/>
                <a:cs typeface="Inter" pitchFamily="34" charset="-120"/>
              </a:rPr>
              <a:t>Get policy suggestions tailored to customer needs.</a:t>
            </a:r>
            <a:endParaRPr lang="en-US" sz="1700" dirty="0"/>
          </a:p>
        </p:txBody>
      </p:sp>
      <p:sp>
        <p:nvSpPr>
          <p:cNvPr id="12" name="Shape 10"/>
          <p:cNvSpPr/>
          <p:nvPr/>
        </p:nvSpPr>
        <p:spPr>
          <a:xfrm>
            <a:off x="10748605" y="1801416"/>
            <a:ext cx="3121700" cy="2000845"/>
          </a:xfrm>
          <a:prstGeom prst="roundRect">
            <a:avLst>
              <a:gd name="adj" fmla="val 26050"/>
            </a:avLst>
          </a:prstGeom>
          <a:solidFill>
            <a:srgbClr val="E0D7F4"/>
          </a:solidFill>
          <a:ln w="7620">
            <a:solidFill>
              <a:srgbClr val="C6BDDA"/>
            </a:solidFill>
            <a:prstDash val="solid"/>
          </a:ln>
        </p:spPr>
      </p:sp>
      <p:sp>
        <p:nvSpPr>
          <p:cNvPr id="13" name="Text 11"/>
          <p:cNvSpPr/>
          <p:nvPr/>
        </p:nvSpPr>
        <p:spPr>
          <a:xfrm>
            <a:off x="10973395" y="2026206"/>
            <a:ext cx="2672120" cy="746522"/>
          </a:xfrm>
          <a:prstGeom prst="rect">
            <a:avLst/>
          </a:prstGeom>
          <a:noFill/>
          <a:ln/>
        </p:spPr>
        <p:txBody>
          <a:bodyPr wrap="square" lIns="0" tIns="0" rIns="0" bIns="0" rtlCol="0" anchor="t"/>
          <a:lstStyle/>
          <a:p>
            <a:pPr marL="0" indent="0" algn="l">
              <a:lnSpc>
                <a:spcPts val="2900"/>
              </a:lnSpc>
              <a:buNone/>
            </a:pPr>
            <a:r>
              <a:rPr lang="en-US" sz="2350" b="1" dirty="0">
                <a:solidFill>
                  <a:srgbClr val="272525"/>
                </a:solidFill>
                <a:latin typeface="Petrona Bold" pitchFamily="34" charset="0"/>
                <a:ea typeface="Petrona Bold" pitchFamily="34" charset="-122"/>
                <a:cs typeface="Petrona Bold" pitchFamily="34" charset="-120"/>
              </a:rPr>
              <a:t>Personalized Recommendations</a:t>
            </a:r>
            <a:endParaRPr lang="en-US" sz="2350" dirty="0"/>
          </a:p>
        </p:txBody>
      </p:sp>
      <p:sp>
        <p:nvSpPr>
          <p:cNvPr id="14" name="Text 12"/>
          <p:cNvSpPr/>
          <p:nvPr/>
        </p:nvSpPr>
        <p:spPr>
          <a:xfrm>
            <a:off x="10973395" y="2897386"/>
            <a:ext cx="2672120" cy="680085"/>
          </a:xfrm>
          <a:prstGeom prst="rect">
            <a:avLst/>
          </a:prstGeom>
          <a:noFill/>
          <a:ln/>
        </p:spPr>
        <p:txBody>
          <a:bodyPr wrap="square" lIns="0" tIns="0" rIns="0" bIns="0" rtlCol="0" anchor="t"/>
          <a:lstStyle/>
          <a:p>
            <a:pPr marL="0" indent="0" algn="l">
              <a:lnSpc>
                <a:spcPts val="2650"/>
              </a:lnSpc>
              <a:buNone/>
            </a:pPr>
            <a:r>
              <a:rPr lang="en-US" sz="1700" dirty="0">
                <a:solidFill>
                  <a:srgbClr val="272525"/>
                </a:solidFill>
                <a:latin typeface="Inter" pitchFamily="34" charset="0"/>
                <a:ea typeface="Inter" pitchFamily="34" charset="-122"/>
                <a:cs typeface="Inter" pitchFamily="34" charset="-120"/>
              </a:rPr>
              <a:t>Share relevant coverage options that build trust.</a:t>
            </a:r>
            <a:endParaRPr lang="en-US" sz="1700" dirty="0"/>
          </a:p>
        </p:txBody>
      </p:sp>
      <p:pic>
        <p:nvPicPr>
          <p:cNvPr id="15" name="Image 0" descr="preencoded.png"/>
          <p:cNvPicPr>
            <a:picLocks noChangeAspect="1"/>
          </p:cNvPicPr>
          <p:nvPr/>
        </p:nvPicPr>
        <p:blipFill>
          <a:blip r:embed="rId3"/>
          <a:stretch>
            <a:fillRect/>
          </a:stretch>
        </p:blipFill>
        <p:spPr>
          <a:xfrm>
            <a:off x="760095" y="4269938"/>
            <a:ext cx="5851565" cy="2789992"/>
          </a:xfrm>
          <a:prstGeom prst="rect">
            <a:avLst/>
          </a:prstGeom>
        </p:spPr>
      </p:pic>
      <p:pic>
        <p:nvPicPr>
          <p:cNvPr id="16" name="Image 1" descr="preencoded.png"/>
          <p:cNvPicPr>
            <a:picLocks noChangeAspect="1"/>
          </p:cNvPicPr>
          <p:nvPr/>
        </p:nvPicPr>
        <p:blipFill>
          <a:blip r:embed="rId4"/>
          <a:stretch>
            <a:fillRect/>
          </a:stretch>
        </p:blipFill>
        <p:spPr>
          <a:xfrm>
            <a:off x="7587734" y="4269938"/>
            <a:ext cx="6290191" cy="2982754"/>
          </a:xfrm>
          <a:prstGeom prst="rect">
            <a:avLst/>
          </a:prstGeom>
        </p:spPr>
      </p:pic>
      <p:sp>
        <p:nvSpPr>
          <p:cNvPr id="17" name="Rectangle 16">
            <a:extLst>
              <a:ext uri="{FF2B5EF4-FFF2-40B4-BE49-F238E27FC236}">
                <a16:creationId xmlns:a16="http://schemas.microsoft.com/office/drawing/2014/main" id="{BFC03D55-8CA5-0C87-6BD1-F4F0A791ED0F}"/>
              </a:ext>
            </a:extLst>
          </p:cNvPr>
          <p:cNvSpPr/>
          <p:nvPr/>
        </p:nvSpPr>
        <p:spPr>
          <a:xfrm>
            <a:off x="12779022" y="7699022"/>
            <a:ext cx="1840089" cy="519289"/>
          </a:xfrm>
          <a:prstGeom prst="rect">
            <a:avLst/>
          </a:prstGeom>
          <a:solidFill>
            <a:srgbClr val="FDFAF7"/>
          </a:solidFill>
          <a:ln>
            <a:solidFill>
              <a:srgbClr val="FDFA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663535"/>
            <a:ext cx="6237684" cy="779621"/>
          </a:xfrm>
          <a:prstGeom prst="rect">
            <a:avLst/>
          </a:prstGeom>
          <a:noFill/>
          <a:ln/>
        </p:spPr>
        <p:txBody>
          <a:bodyPr wrap="none" lIns="0" tIns="0" rIns="0" bIns="0" rtlCol="0" anchor="t"/>
          <a:lstStyle/>
          <a:p>
            <a:pPr marL="0" indent="0" algn="l">
              <a:lnSpc>
                <a:spcPts val="6100"/>
              </a:lnSpc>
              <a:buNone/>
            </a:pPr>
            <a:r>
              <a:rPr lang="en-US" sz="4900" b="1" dirty="0">
                <a:solidFill>
                  <a:srgbClr val="F95F88"/>
                </a:solidFill>
                <a:latin typeface="Petrona Bold" pitchFamily="34" charset="0"/>
                <a:ea typeface="Petrona Bold" pitchFamily="34" charset="-122"/>
                <a:cs typeface="Petrona Bold" pitchFamily="34" charset="-120"/>
              </a:rPr>
              <a:t>User Dashboard</a:t>
            </a:r>
            <a:endParaRPr lang="en-US" sz="4900" dirty="0"/>
          </a:p>
        </p:txBody>
      </p:sp>
      <p:pic>
        <p:nvPicPr>
          <p:cNvPr id="3" name="Image 0" descr="preencoded.png"/>
          <p:cNvPicPr>
            <a:picLocks noChangeAspect="1"/>
          </p:cNvPicPr>
          <p:nvPr/>
        </p:nvPicPr>
        <p:blipFill>
          <a:blip r:embed="rId3"/>
          <a:stretch>
            <a:fillRect/>
          </a:stretch>
        </p:blipFill>
        <p:spPr>
          <a:xfrm>
            <a:off x="793790" y="2038469"/>
            <a:ext cx="6244709" cy="2988707"/>
          </a:xfrm>
          <a:prstGeom prst="rect">
            <a:avLst/>
          </a:prstGeom>
        </p:spPr>
      </p:pic>
      <p:pic>
        <p:nvPicPr>
          <p:cNvPr id="4" name="Image 1" descr="preencoded.png"/>
          <p:cNvPicPr>
            <a:picLocks noChangeAspect="1"/>
          </p:cNvPicPr>
          <p:nvPr/>
        </p:nvPicPr>
        <p:blipFill>
          <a:blip r:embed="rId4"/>
          <a:stretch>
            <a:fillRect/>
          </a:stretch>
        </p:blipFill>
        <p:spPr>
          <a:xfrm>
            <a:off x="7599521" y="2038469"/>
            <a:ext cx="6244709" cy="2980730"/>
          </a:xfrm>
          <a:prstGeom prst="rect">
            <a:avLst/>
          </a:prstGeom>
        </p:spPr>
      </p:pic>
      <p:sp>
        <p:nvSpPr>
          <p:cNvPr id="5" name="Shape 1"/>
          <p:cNvSpPr/>
          <p:nvPr/>
        </p:nvSpPr>
        <p:spPr>
          <a:xfrm>
            <a:off x="793790" y="5537478"/>
            <a:ext cx="3090505" cy="2028587"/>
          </a:xfrm>
          <a:prstGeom prst="roundRect">
            <a:avLst>
              <a:gd name="adj" fmla="val 26836"/>
            </a:avLst>
          </a:prstGeom>
          <a:solidFill>
            <a:srgbClr val="E0D7F4"/>
          </a:solidFill>
          <a:ln w="7620">
            <a:solidFill>
              <a:srgbClr val="C6BDDA"/>
            </a:solidFill>
            <a:prstDash val="solid"/>
          </a:ln>
        </p:spPr>
      </p:sp>
      <p:sp>
        <p:nvSpPr>
          <p:cNvPr id="6" name="Text 2"/>
          <p:cNvSpPr/>
          <p:nvPr/>
        </p:nvSpPr>
        <p:spPr>
          <a:xfrm>
            <a:off x="1028224" y="5771912"/>
            <a:ext cx="2621637" cy="1169789"/>
          </a:xfrm>
          <a:prstGeom prst="rect">
            <a:avLst/>
          </a:prstGeom>
          <a:noFill/>
          <a:ln/>
        </p:spPr>
        <p:txBody>
          <a:bodyPr wrap="square" lIns="0" tIns="0" rIns="0" bIns="0" rtlCol="0" anchor="t"/>
          <a:lstStyle/>
          <a:p>
            <a:pPr marL="0" indent="0" algn="l">
              <a:lnSpc>
                <a:spcPts val="3050"/>
              </a:lnSpc>
              <a:buNone/>
            </a:pPr>
            <a:r>
              <a:rPr lang="en-US" sz="2450" b="1" dirty="0">
                <a:solidFill>
                  <a:srgbClr val="272525"/>
                </a:solidFill>
                <a:latin typeface="Petrona Bold" pitchFamily="34" charset="0"/>
                <a:ea typeface="Petrona Bold" pitchFamily="34" charset="-122"/>
                <a:cs typeface="Petrona Bold" pitchFamily="34" charset="-120"/>
              </a:rPr>
              <a:t>Shows Insurance Health Score for the user </a:t>
            </a:r>
            <a:endParaRPr lang="en-US" sz="2450" dirty="0"/>
          </a:p>
        </p:txBody>
      </p:sp>
      <p:sp>
        <p:nvSpPr>
          <p:cNvPr id="7" name="Shape 3"/>
          <p:cNvSpPr/>
          <p:nvPr/>
        </p:nvSpPr>
        <p:spPr>
          <a:xfrm>
            <a:off x="4111109" y="5537478"/>
            <a:ext cx="3090624" cy="2028587"/>
          </a:xfrm>
          <a:prstGeom prst="roundRect">
            <a:avLst>
              <a:gd name="adj" fmla="val 26836"/>
            </a:avLst>
          </a:prstGeom>
          <a:solidFill>
            <a:srgbClr val="E0D7F4"/>
          </a:solidFill>
          <a:ln w="7620">
            <a:solidFill>
              <a:srgbClr val="C6BDDA"/>
            </a:solidFill>
            <a:prstDash val="solid"/>
          </a:ln>
        </p:spPr>
      </p:sp>
      <p:sp>
        <p:nvSpPr>
          <p:cNvPr id="8" name="Text 4"/>
          <p:cNvSpPr/>
          <p:nvPr/>
        </p:nvSpPr>
        <p:spPr>
          <a:xfrm>
            <a:off x="4345543" y="5771912"/>
            <a:ext cx="2621756" cy="1559719"/>
          </a:xfrm>
          <a:prstGeom prst="rect">
            <a:avLst/>
          </a:prstGeom>
          <a:noFill/>
          <a:ln/>
        </p:spPr>
        <p:txBody>
          <a:bodyPr wrap="square" lIns="0" tIns="0" rIns="0" bIns="0" rtlCol="0" anchor="t"/>
          <a:lstStyle/>
          <a:p>
            <a:pPr marL="0" indent="0" algn="l">
              <a:lnSpc>
                <a:spcPts val="3050"/>
              </a:lnSpc>
              <a:buNone/>
            </a:pPr>
            <a:r>
              <a:rPr lang="en-US" sz="2450" b="1" dirty="0">
                <a:solidFill>
                  <a:srgbClr val="272525"/>
                </a:solidFill>
                <a:latin typeface="Petrona Bold" pitchFamily="34" charset="0"/>
                <a:ea typeface="Petrona Bold" pitchFamily="34" charset="-122"/>
                <a:cs typeface="Petrona Bold" pitchFamily="34" charset="-120"/>
              </a:rPr>
              <a:t>Displays total coverage, active policies, and claims summary</a:t>
            </a:r>
            <a:endParaRPr lang="en-US" sz="2450" dirty="0"/>
          </a:p>
        </p:txBody>
      </p:sp>
      <p:sp>
        <p:nvSpPr>
          <p:cNvPr id="9" name="Shape 5"/>
          <p:cNvSpPr/>
          <p:nvPr/>
        </p:nvSpPr>
        <p:spPr>
          <a:xfrm>
            <a:off x="7428548" y="5537478"/>
            <a:ext cx="3090624" cy="2028587"/>
          </a:xfrm>
          <a:prstGeom prst="roundRect">
            <a:avLst>
              <a:gd name="adj" fmla="val 26836"/>
            </a:avLst>
          </a:prstGeom>
          <a:solidFill>
            <a:srgbClr val="E0D7F4"/>
          </a:solidFill>
          <a:ln w="7620">
            <a:solidFill>
              <a:srgbClr val="C6BDDA"/>
            </a:solidFill>
            <a:prstDash val="solid"/>
          </a:ln>
        </p:spPr>
      </p:sp>
      <p:sp>
        <p:nvSpPr>
          <p:cNvPr id="10" name="Text 6"/>
          <p:cNvSpPr/>
          <p:nvPr/>
        </p:nvSpPr>
        <p:spPr>
          <a:xfrm>
            <a:off x="7662982" y="5771912"/>
            <a:ext cx="2621756" cy="1559719"/>
          </a:xfrm>
          <a:prstGeom prst="rect">
            <a:avLst/>
          </a:prstGeom>
          <a:noFill/>
          <a:ln/>
        </p:spPr>
        <p:txBody>
          <a:bodyPr wrap="square" lIns="0" tIns="0" rIns="0" bIns="0" rtlCol="0" anchor="t"/>
          <a:lstStyle/>
          <a:p>
            <a:pPr marL="0" indent="0" algn="l">
              <a:lnSpc>
                <a:spcPts val="3050"/>
              </a:lnSpc>
              <a:buNone/>
            </a:pPr>
            <a:r>
              <a:rPr lang="en-US" sz="2450" b="1" dirty="0">
                <a:solidFill>
                  <a:srgbClr val="272525"/>
                </a:solidFill>
                <a:latin typeface="Petrona Bold" pitchFamily="34" charset="0"/>
                <a:ea typeface="Petrona Bold" pitchFamily="34" charset="-122"/>
                <a:cs typeface="Petrona Bold" pitchFamily="34" charset="-120"/>
              </a:rPr>
              <a:t>Provides AI-based smart notifications and tips</a:t>
            </a:r>
            <a:endParaRPr lang="en-US" sz="2450" dirty="0"/>
          </a:p>
        </p:txBody>
      </p:sp>
      <p:sp>
        <p:nvSpPr>
          <p:cNvPr id="11" name="Shape 7"/>
          <p:cNvSpPr/>
          <p:nvPr/>
        </p:nvSpPr>
        <p:spPr>
          <a:xfrm>
            <a:off x="10745986" y="5537478"/>
            <a:ext cx="3090624" cy="2028587"/>
          </a:xfrm>
          <a:prstGeom prst="roundRect">
            <a:avLst>
              <a:gd name="adj" fmla="val 26836"/>
            </a:avLst>
          </a:prstGeom>
          <a:solidFill>
            <a:srgbClr val="E0D7F4"/>
          </a:solidFill>
          <a:ln w="7620">
            <a:solidFill>
              <a:srgbClr val="C6BDDA"/>
            </a:solidFill>
            <a:prstDash val="solid"/>
          </a:ln>
        </p:spPr>
      </p:sp>
      <p:sp>
        <p:nvSpPr>
          <p:cNvPr id="12" name="Text 8"/>
          <p:cNvSpPr/>
          <p:nvPr/>
        </p:nvSpPr>
        <p:spPr>
          <a:xfrm>
            <a:off x="10980420" y="5771912"/>
            <a:ext cx="2621756" cy="1559719"/>
          </a:xfrm>
          <a:prstGeom prst="rect">
            <a:avLst/>
          </a:prstGeom>
          <a:noFill/>
          <a:ln/>
        </p:spPr>
        <p:txBody>
          <a:bodyPr wrap="square" lIns="0" tIns="0" rIns="0" bIns="0" rtlCol="0" anchor="t"/>
          <a:lstStyle/>
          <a:p>
            <a:pPr marL="0" indent="0" algn="l">
              <a:lnSpc>
                <a:spcPts val="3050"/>
              </a:lnSpc>
              <a:buNone/>
            </a:pPr>
            <a:r>
              <a:rPr lang="en-US" sz="2450" b="1" dirty="0">
                <a:solidFill>
                  <a:srgbClr val="272525"/>
                </a:solidFill>
                <a:latin typeface="Petrona Bold" pitchFamily="34" charset="0"/>
                <a:ea typeface="Petrona Bold" pitchFamily="34" charset="-122"/>
                <a:cs typeface="Petrona Bold" pitchFamily="34" charset="-120"/>
              </a:rPr>
              <a:t>Includes consultation analytics for better tracking</a:t>
            </a:r>
            <a:endParaRPr lang="en-US" sz="2450" dirty="0"/>
          </a:p>
        </p:txBody>
      </p:sp>
      <p:sp>
        <p:nvSpPr>
          <p:cNvPr id="13" name="Rectangle 12">
            <a:extLst>
              <a:ext uri="{FF2B5EF4-FFF2-40B4-BE49-F238E27FC236}">
                <a16:creationId xmlns:a16="http://schemas.microsoft.com/office/drawing/2014/main" id="{E18779FC-BE76-CBE4-AE66-9E732073CD80}"/>
              </a:ext>
            </a:extLst>
          </p:cNvPr>
          <p:cNvSpPr/>
          <p:nvPr/>
        </p:nvSpPr>
        <p:spPr>
          <a:xfrm>
            <a:off x="12779022" y="7699022"/>
            <a:ext cx="1840089" cy="519289"/>
          </a:xfrm>
          <a:prstGeom prst="rect">
            <a:avLst/>
          </a:prstGeom>
          <a:solidFill>
            <a:srgbClr val="FDFAF7"/>
          </a:solidFill>
          <a:ln>
            <a:solidFill>
              <a:srgbClr val="FDFA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pic>
        <p:nvPicPr>
          <p:cNvPr id="3" name="Image 1" descr="preencoded.png"/>
          <p:cNvPicPr>
            <a:picLocks noChangeAspect="1"/>
          </p:cNvPicPr>
          <p:nvPr/>
        </p:nvPicPr>
        <p:blipFill>
          <a:blip r:embed="rId4"/>
          <a:stretch>
            <a:fillRect/>
          </a:stretch>
        </p:blipFill>
        <p:spPr>
          <a:xfrm>
            <a:off x="283488" y="2940248"/>
            <a:ext cx="4919305" cy="2348984"/>
          </a:xfrm>
          <a:prstGeom prst="rect">
            <a:avLst/>
          </a:prstGeom>
        </p:spPr>
      </p:pic>
      <p:sp>
        <p:nvSpPr>
          <p:cNvPr id="4" name="Text 0"/>
          <p:cNvSpPr/>
          <p:nvPr/>
        </p:nvSpPr>
        <p:spPr>
          <a:xfrm>
            <a:off x="6280190" y="1117163"/>
            <a:ext cx="6237684" cy="779621"/>
          </a:xfrm>
          <a:prstGeom prst="rect">
            <a:avLst/>
          </a:prstGeom>
          <a:noFill/>
          <a:ln/>
        </p:spPr>
        <p:txBody>
          <a:bodyPr wrap="none" lIns="0" tIns="0" rIns="0" bIns="0" rtlCol="0" anchor="t"/>
          <a:lstStyle/>
          <a:p>
            <a:pPr marL="0" indent="0" algn="l">
              <a:lnSpc>
                <a:spcPts val="6100"/>
              </a:lnSpc>
              <a:buNone/>
            </a:pPr>
            <a:r>
              <a:rPr lang="en-US" sz="4900" b="1" dirty="0">
                <a:solidFill>
                  <a:srgbClr val="F95F88"/>
                </a:solidFill>
                <a:latin typeface="Petrona Bold" pitchFamily="34" charset="0"/>
                <a:ea typeface="Petrona Bold" pitchFamily="34" charset="-122"/>
                <a:cs typeface="Petrona Bold" pitchFamily="34" charset="-120"/>
              </a:rPr>
              <a:t>Policies &amp; AI Advisor</a:t>
            </a:r>
            <a:endParaRPr lang="en-US" sz="4900" dirty="0"/>
          </a:p>
        </p:txBody>
      </p:sp>
      <p:sp>
        <p:nvSpPr>
          <p:cNvPr id="5" name="Shape 1"/>
          <p:cNvSpPr/>
          <p:nvPr/>
        </p:nvSpPr>
        <p:spPr>
          <a:xfrm>
            <a:off x="6280190" y="2236946"/>
            <a:ext cx="3664744" cy="2519243"/>
          </a:xfrm>
          <a:prstGeom prst="roundRect">
            <a:avLst>
              <a:gd name="adj" fmla="val 5807"/>
            </a:avLst>
          </a:prstGeom>
          <a:solidFill>
            <a:srgbClr val="FDFAF7"/>
          </a:solidFill>
          <a:ln w="30480">
            <a:solidFill>
              <a:srgbClr val="C6BDDA"/>
            </a:solidFill>
            <a:prstDash val="solid"/>
          </a:ln>
        </p:spPr>
      </p:sp>
      <p:sp>
        <p:nvSpPr>
          <p:cNvPr id="6" name="Shape 2"/>
          <p:cNvSpPr/>
          <p:nvPr/>
        </p:nvSpPr>
        <p:spPr>
          <a:xfrm>
            <a:off x="6249710" y="2236946"/>
            <a:ext cx="121920" cy="2519243"/>
          </a:xfrm>
          <a:prstGeom prst="roundRect">
            <a:avLst>
              <a:gd name="adj" fmla="val 78139"/>
            </a:avLst>
          </a:prstGeom>
          <a:solidFill>
            <a:srgbClr val="6237C8"/>
          </a:solidFill>
          <a:ln/>
        </p:spPr>
      </p:sp>
      <p:sp>
        <p:nvSpPr>
          <p:cNvPr id="7" name="Text 3"/>
          <p:cNvSpPr/>
          <p:nvPr/>
        </p:nvSpPr>
        <p:spPr>
          <a:xfrm>
            <a:off x="6628924" y="2494240"/>
            <a:ext cx="3058716" cy="389930"/>
          </a:xfrm>
          <a:prstGeom prst="rect">
            <a:avLst/>
          </a:prstGeom>
          <a:noFill/>
          <a:ln/>
        </p:spPr>
        <p:txBody>
          <a:bodyPr wrap="none" lIns="0" tIns="0" rIns="0" bIns="0" rtlCol="0" anchor="t"/>
          <a:lstStyle/>
          <a:p>
            <a:pPr marL="0" indent="0" algn="l">
              <a:lnSpc>
                <a:spcPts val="3050"/>
              </a:lnSpc>
              <a:buNone/>
            </a:pPr>
            <a:r>
              <a:rPr lang="en-US" sz="2450" b="1" dirty="0">
                <a:solidFill>
                  <a:srgbClr val="272525"/>
                </a:solidFill>
                <a:latin typeface="Petrona Bold" pitchFamily="34" charset="0"/>
                <a:ea typeface="Petrona Bold" pitchFamily="34" charset="-122"/>
                <a:cs typeface="Petrona Bold" pitchFamily="34" charset="-120"/>
              </a:rPr>
              <a:t>Policy Display</a:t>
            </a:r>
            <a:endParaRPr lang="en-US" sz="2450" dirty="0"/>
          </a:p>
        </p:txBody>
      </p:sp>
      <p:sp>
        <p:nvSpPr>
          <p:cNvPr id="8" name="Text 4"/>
          <p:cNvSpPr/>
          <p:nvPr/>
        </p:nvSpPr>
        <p:spPr>
          <a:xfrm>
            <a:off x="6628924" y="3020258"/>
            <a:ext cx="3058716"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View policies with coverage, premiums, and benefits at a glance.</a:t>
            </a:r>
            <a:endParaRPr lang="en-US" sz="1750" dirty="0"/>
          </a:p>
        </p:txBody>
      </p:sp>
      <p:sp>
        <p:nvSpPr>
          <p:cNvPr id="9" name="Shape 5"/>
          <p:cNvSpPr/>
          <p:nvPr/>
        </p:nvSpPr>
        <p:spPr>
          <a:xfrm>
            <a:off x="10171748" y="2236946"/>
            <a:ext cx="3664863" cy="2519243"/>
          </a:xfrm>
          <a:prstGeom prst="roundRect">
            <a:avLst>
              <a:gd name="adj" fmla="val 5807"/>
            </a:avLst>
          </a:prstGeom>
          <a:solidFill>
            <a:srgbClr val="FDFAF7"/>
          </a:solidFill>
          <a:ln w="30480">
            <a:solidFill>
              <a:srgbClr val="C6BDDA"/>
            </a:solidFill>
            <a:prstDash val="solid"/>
          </a:ln>
        </p:spPr>
      </p:sp>
      <p:sp>
        <p:nvSpPr>
          <p:cNvPr id="10" name="Shape 6"/>
          <p:cNvSpPr/>
          <p:nvPr/>
        </p:nvSpPr>
        <p:spPr>
          <a:xfrm>
            <a:off x="10141268" y="2236946"/>
            <a:ext cx="121920" cy="2519243"/>
          </a:xfrm>
          <a:prstGeom prst="roundRect">
            <a:avLst>
              <a:gd name="adj" fmla="val 78139"/>
            </a:avLst>
          </a:prstGeom>
          <a:solidFill>
            <a:srgbClr val="6237C8"/>
          </a:solidFill>
          <a:ln/>
        </p:spPr>
      </p:sp>
      <p:sp>
        <p:nvSpPr>
          <p:cNvPr id="11" name="Text 7"/>
          <p:cNvSpPr/>
          <p:nvPr/>
        </p:nvSpPr>
        <p:spPr>
          <a:xfrm>
            <a:off x="10520482" y="2494240"/>
            <a:ext cx="3058835" cy="779859"/>
          </a:xfrm>
          <a:prstGeom prst="rect">
            <a:avLst/>
          </a:prstGeom>
          <a:noFill/>
          <a:ln/>
        </p:spPr>
        <p:txBody>
          <a:bodyPr wrap="square" lIns="0" tIns="0" rIns="0" bIns="0" rtlCol="0" anchor="t"/>
          <a:lstStyle/>
          <a:p>
            <a:pPr marL="0" indent="0" algn="l">
              <a:lnSpc>
                <a:spcPts val="3050"/>
              </a:lnSpc>
              <a:buNone/>
            </a:pPr>
            <a:r>
              <a:rPr lang="en-US" sz="2450" b="1" dirty="0">
                <a:solidFill>
                  <a:srgbClr val="272525"/>
                </a:solidFill>
                <a:latin typeface="Petrona Bold" pitchFamily="34" charset="0"/>
                <a:ea typeface="Petrona Bold" pitchFamily="34" charset="-122"/>
                <a:cs typeface="Petrona Bold" pitchFamily="34" charset="-120"/>
              </a:rPr>
              <a:t>AI Recommendations</a:t>
            </a:r>
            <a:endParaRPr lang="en-US" sz="2450" dirty="0"/>
          </a:p>
        </p:txBody>
      </p:sp>
      <p:sp>
        <p:nvSpPr>
          <p:cNvPr id="12" name="Text 8"/>
          <p:cNvSpPr/>
          <p:nvPr/>
        </p:nvSpPr>
        <p:spPr>
          <a:xfrm>
            <a:off x="10520482" y="3410188"/>
            <a:ext cx="3058835"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See policies recommended for your profile and protection needs.</a:t>
            </a:r>
            <a:endParaRPr lang="en-US" sz="1750" dirty="0"/>
          </a:p>
        </p:txBody>
      </p:sp>
      <p:sp>
        <p:nvSpPr>
          <p:cNvPr id="13" name="Shape 9"/>
          <p:cNvSpPr/>
          <p:nvPr/>
        </p:nvSpPr>
        <p:spPr>
          <a:xfrm>
            <a:off x="6280190" y="4983004"/>
            <a:ext cx="3664744" cy="2129314"/>
          </a:xfrm>
          <a:prstGeom prst="roundRect">
            <a:avLst>
              <a:gd name="adj" fmla="val 6871"/>
            </a:avLst>
          </a:prstGeom>
          <a:solidFill>
            <a:srgbClr val="FDFAF7"/>
          </a:solidFill>
          <a:ln w="30480">
            <a:solidFill>
              <a:srgbClr val="C6BDDA"/>
            </a:solidFill>
            <a:prstDash val="solid"/>
          </a:ln>
        </p:spPr>
      </p:sp>
      <p:sp>
        <p:nvSpPr>
          <p:cNvPr id="14" name="Shape 10"/>
          <p:cNvSpPr/>
          <p:nvPr/>
        </p:nvSpPr>
        <p:spPr>
          <a:xfrm>
            <a:off x="6249710" y="4983004"/>
            <a:ext cx="121920" cy="2129314"/>
          </a:xfrm>
          <a:prstGeom prst="roundRect">
            <a:avLst>
              <a:gd name="adj" fmla="val 78139"/>
            </a:avLst>
          </a:prstGeom>
          <a:solidFill>
            <a:srgbClr val="6237C8"/>
          </a:solidFill>
          <a:ln/>
        </p:spPr>
      </p:sp>
      <p:sp>
        <p:nvSpPr>
          <p:cNvPr id="15" name="Text 11"/>
          <p:cNvSpPr/>
          <p:nvPr/>
        </p:nvSpPr>
        <p:spPr>
          <a:xfrm>
            <a:off x="6628924" y="5240298"/>
            <a:ext cx="3058716" cy="389930"/>
          </a:xfrm>
          <a:prstGeom prst="rect">
            <a:avLst/>
          </a:prstGeom>
          <a:noFill/>
          <a:ln/>
        </p:spPr>
        <p:txBody>
          <a:bodyPr wrap="none" lIns="0" tIns="0" rIns="0" bIns="0" rtlCol="0" anchor="t"/>
          <a:lstStyle/>
          <a:p>
            <a:pPr marL="0" indent="0" algn="l">
              <a:lnSpc>
                <a:spcPts val="3050"/>
              </a:lnSpc>
              <a:buNone/>
            </a:pPr>
            <a:r>
              <a:rPr lang="en-US" sz="2450" b="1" dirty="0">
                <a:solidFill>
                  <a:srgbClr val="272525"/>
                </a:solidFill>
                <a:latin typeface="Petrona Bold" pitchFamily="34" charset="0"/>
                <a:ea typeface="Petrona Bold" pitchFamily="34" charset="-122"/>
                <a:cs typeface="Petrona Bold" pitchFamily="34" charset="-120"/>
              </a:rPr>
              <a:t>Profile Analysis</a:t>
            </a:r>
            <a:endParaRPr lang="en-US" sz="2450" dirty="0"/>
          </a:p>
        </p:txBody>
      </p:sp>
      <p:sp>
        <p:nvSpPr>
          <p:cNvPr id="16" name="Text 12"/>
          <p:cNvSpPr/>
          <p:nvPr/>
        </p:nvSpPr>
        <p:spPr>
          <a:xfrm>
            <a:off x="6628924" y="5766316"/>
            <a:ext cx="3058716"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AI Advisor reviews age, income, dependents, and lifestyle factors.</a:t>
            </a:r>
            <a:endParaRPr lang="en-US" sz="1750" dirty="0"/>
          </a:p>
        </p:txBody>
      </p:sp>
      <p:sp>
        <p:nvSpPr>
          <p:cNvPr id="17" name="Shape 13"/>
          <p:cNvSpPr/>
          <p:nvPr/>
        </p:nvSpPr>
        <p:spPr>
          <a:xfrm>
            <a:off x="10171748" y="4983004"/>
            <a:ext cx="3664863" cy="2129314"/>
          </a:xfrm>
          <a:prstGeom prst="roundRect">
            <a:avLst>
              <a:gd name="adj" fmla="val 6871"/>
            </a:avLst>
          </a:prstGeom>
          <a:solidFill>
            <a:srgbClr val="FDFAF7"/>
          </a:solidFill>
          <a:ln w="30480">
            <a:solidFill>
              <a:srgbClr val="C6BDDA"/>
            </a:solidFill>
            <a:prstDash val="solid"/>
          </a:ln>
        </p:spPr>
      </p:sp>
      <p:sp>
        <p:nvSpPr>
          <p:cNvPr id="18" name="Shape 14"/>
          <p:cNvSpPr/>
          <p:nvPr/>
        </p:nvSpPr>
        <p:spPr>
          <a:xfrm>
            <a:off x="10141268" y="4983004"/>
            <a:ext cx="121920" cy="2129314"/>
          </a:xfrm>
          <a:prstGeom prst="roundRect">
            <a:avLst>
              <a:gd name="adj" fmla="val 78139"/>
            </a:avLst>
          </a:prstGeom>
          <a:solidFill>
            <a:srgbClr val="6237C8"/>
          </a:solidFill>
          <a:ln/>
        </p:spPr>
      </p:sp>
      <p:sp>
        <p:nvSpPr>
          <p:cNvPr id="19" name="Text 15"/>
          <p:cNvSpPr/>
          <p:nvPr/>
        </p:nvSpPr>
        <p:spPr>
          <a:xfrm>
            <a:off x="10520482" y="5240298"/>
            <a:ext cx="3058835" cy="389930"/>
          </a:xfrm>
          <a:prstGeom prst="rect">
            <a:avLst/>
          </a:prstGeom>
          <a:noFill/>
          <a:ln/>
        </p:spPr>
        <p:txBody>
          <a:bodyPr wrap="none" lIns="0" tIns="0" rIns="0" bIns="0" rtlCol="0" anchor="t"/>
          <a:lstStyle/>
          <a:p>
            <a:pPr marL="0" indent="0" algn="l">
              <a:lnSpc>
                <a:spcPts val="3050"/>
              </a:lnSpc>
              <a:buNone/>
            </a:pPr>
            <a:r>
              <a:rPr lang="en-US" sz="2450" b="1" dirty="0">
                <a:solidFill>
                  <a:srgbClr val="272525"/>
                </a:solidFill>
                <a:latin typeface="Petrona Bold" pitchFamily="34" charset="0"/>
                <a:ea typeface="Petrona Bold" pitchFamily="34" charset="-122"/>
                <a:cs typeface="Petrona Bold" pitchFamily="34" charset="-120"/>
              </a:rPr>
              <a:t>Risk Assessment</a:t>
            </a:r>
            <a:endParaRPr lang="en-US" sz="2450" dirty="0"/>
          </a:p>
        </p:txBody>
      </p:sp>
      <p:sp>
        <p:nvSpPr>
          <p:cNvPr id="20" name="Text 16"/>
          <p:cNvSpPr/>
          <p:nvPr/>
        </p:nvSpPr>
        <p:spPr>
          <a:xfrm>
            <a:off x="10520482" y="5766316"/>
            <a:ext cx="3058835"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Get personalized risk scores and identify coverage gaps.</a:t>
            </a:r>
            <a:endParaRPr lang="en-US" sz="1750" dirty="0"/>
          </a:p>
        </p:txBody>
      </p:sp>
      <p:sp>
        <p:nvSpPr>
          <p:cNvPr id="21" name="Rectangle 20">
            <a:extLst>
              <a:ext uri="{FF2B5EF4-FFF2-40B4-BE49-F238E27FC236}">
                <a16:creationId xmlns:a16="http://schemas.microsoft.com/office/drawing/2014/main" id="{BB83F4BB-ED2C-B5A3-A0C2-C2843D1082E9}"/>
              </a:ext>
            </a:extLst>
          </p:cNvPr>
          <p:cNvSpPr/>
          <p:nvPr/>
        </p:nvSpPr>
        <p:spPr>
          <a:xfrm>
            <a:off x="12779022" y="7699022"/>
            <a:ext cx="1840089" cy="519289"/>
          </a:xfrm>
          <a:prstGeom prst="rect">
            <a:avLst/>
          </a:prstGeom>
          <a:solidFill>
            <a:srgbClr val="FDFAF7"/>
          </a:solidFill>
          <a:ln>
            <a:solidFill>
              <a:srgbClr val="FDFA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642824"/>
            <a:ext cx="7352467" cy="779621"/>
          </a:xfrm>
          <a:prstGeom prst="rect">
            <a:avLst/>
          </a:prstGeom>
          <a:noFill/>
          <a:ln/>
        </p:spPr>
        <p:txBody>
          <a:bodyPr wrap="none" lIns="0" tIns="0" rIns="0" bIns="0" rtlCol="0" anchor="t"/>
          <a:lstStyle/>
          <a:p>
            <a:pPr marL="0" indent="0" algn="l">
              <a:lnSpc>
                <a:spcPts val="6100"/>
              </a:lnSpc>
              <a:buNone/>
            </a:pPr>
            <a:r>
              <a:rPr lang="en-US" sz="4900" b="1" dirty="0">
                <a:solidFill>
                  <a:srgbClr val="F95F88"/>
                </a:solidFill>
                <a:latin typeface="Petrona Bold" pitchFamily="34" charset="0"/>
                <a:ea typeface="Petrona Bold" pitchFamily="34" charset="-122"/>
                <a:cs typeface="Petrona Bold" pitchFamily="34" charset="-120"/>
              </a:rPr>
              <a:t>Claims &amp; Consult Advisor</a:t>
            </a:r>
            <a:endParaRPr lang="en-US" sz="4900" dirty="0"/>
          </a:p>
        </p:txBody>
      </p:sp>
      <p:pic>
        <p:nvPicPr>
          <p:cNvPr id="3" name="Image 0" descr="preencoded.png"/>
          <p:cNvPicPr>
            <a:picLocks noChangeAspect="1"/>
          </p:cNvPicPr>
          <p:nvPr/>
        </p:nvPicPr>
        <p:blipFill>
          <a:blip r:embed="rId3"/>
          <a:stretch>
            <a:fillRect/>
          </a:stretch>
        </p:blipFill>
        <p:spPr>
          <a:xfrm>
            <a:off x="793790" y="3179326"/>
            <a:ext cx="6244709" cy="2990493"/>
          </a:xfrm>
          <a:prstGeom prst="rect">
            <a:avLst/>
          </a:prstGeom>
        </p:spPr>
      </p:pic>
      <p:sp>
        <p:nvSpPr>
          <p:cNvPr id="4" name="Text 1"/>
          <p:cNvSpPr/>
          <p:nvPr/>
        </p:nvSpPr>
        <p:spPr>
          <a:xfrm>
            <a:off x="7599521" y="2989421"/>
            <a:ext cx="5359598" cy="467678"/>
          </a:xfrm>
          <a:prstGeom prst="rect">
            <a:avLst/>
          </a:prstGeom>
          <a:noFill/>
          <a:ln/>
        </p:spPr>
        <p:txBody>
          <a:bodyPr wrap="none" lIns="0" tIns="0" rIns="0" bIns="0" rtlCol="0" anchor="t"/>
          <a:lstStyle/>
          <a:p>
            <a:pPr marL="0" indent="0" algn="l">
              <a:lnSpc>
                <a:spcPts val="3650"/>
              </a:lnSpc>
              <a:buNone/>
            </a:pPr>
            <a:r>
              <a:rPr lang="en-US" sz="2900" b="1" dirty="0">
                <a:solidFill>
                  <a:srgbClr val="F95F88"/>
                </a:solidFill>
                <a:latin typeface="Petrona Bold" pitchFamily="34" charset="0"/>
                <a:ea typeface="Petrona Bold" pitchFamily="34" charset="-122"/>
                <a:cs typeface="Petrona Bold" pitchFamily="34" charset="-120"/>
              </a:rPr>
              <a:t>Streamlined Claims Processing</a:t>
            </a:r>
            <a:endParaRPr lang="en-US" sz="2900" dirty="0"/>
          </a:p>
        </p:txBody>
      </p:sp>
      <p:sp>
        <p:nvSpPr>
          <p:cNvPr id="5" name="Text 2"/>
          <p:cNvSpPr/>
          <p:nvPr/>
        </p:nvSpPr>
        <p:spPr>
          <a:xfrm>
            <a:off x="7599521" y="3683913"/>
            <a:ext cx="6244709" cy="213169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Submit and track claims with real-time updates</a:t>
            </a:r>
            <a:endParaRPr lang="en-US" sz="1750" dirty="0"/>
          </a:p>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View claim history and status at a glance</a:t>
            </a:r>
            <a:endParaRPr lang="en-US" sz="1750" dirty="0"/>
          </a:p>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AI Fraud Detection flags risky claims</a:t>
            </a:r>
            <a:endParaRPr lang="en-US" sz="1750" dirty="0"/>
          </a:p>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AI Claim Decision suggests approval or review</a:t>
            </a:r>
            <a:endParaRPr lang="en-US" sz="1750" dirty="0"/>
          </a:p>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Advisor connects users with qualified agents</a:t>
            </a:r>
            <a:endParaRPr lang="en-US" sz="1750" dirty="0"/>
          </a:p>
        </p:txBody>
      </p:sp>
      <p:sp>
        <p:nvSpPr>
          <p:cNvPr id="6" name="Text 3"/>
          <p:cNvSpPr/>
          <p:nvPr/>
        </p:nvSpPr>
        <p:spPr>
          <a:xfrm>
            <a:off x="7599521" y="6019681"/>
            <a:ext cx="6244709"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Faster claims processing with automated fraud analysis.</a:t>
            </a:r>
            <a:endParaRPr lang="en-US" sz="1750" dirty="0"/>
          </a:p>
        </p:txBody>
      </p:sp>
      <p:sp>
        <p:nvSpPr>
          <p:cNvPr id="7" name="Rectangle 6">
            <a:extLst>
              <a:ext uri="{FF2B5EF4-FFF2-40B4-BE49-F238E27FC236}">
                <a16:creationId xmlns:a16="http://schemas.microsoft.com/office/drawing/2014/main" id="{7D026E09-27A4-9D5B-EBFB-AAC1B72157F6}"/>
              </a:ext>
            </a:extLst>
          </p:cNvPr>
          <p:cNvSpPr/>
          <p:nvPr/>
        </p:nvSpPr>
        <p:spPr>
          <a:xfrm>
            <a:off x="12779022" y="7699022"/>
            <a:ext cx="1840089" cy="519289"/>
          </a:xfrm>
          <a:prstGeom prst="rect">
            <a:avLst/>
          </a:prstGeom>
          <a:solidFill>
            <a:srgbClr val="FDFAF7"/>
          </a:solidFill>
          <a:ln>
            <a:solidFill>
              <a:srgbClr val="FDFA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pic>
        <p:nvPicPr>
          <p:cNvPr id="3" name="Image 1" descr="preencoded.png"/>
          <p:cNvPicPr>
            <a:picLocks noChangeAspect="1"/>
          </p:cNvPicPr>
          <p:nvPr/>
        </p:nvPicPr>
        <p:blipFill>
          <a:blip r:embed="rId4"/>
          <a:stretch>
            <a:fillRect/>
          </a:stretch>
        </p:blipFill>
        <p:spPr>
          <a:xfrm>
            <a:off x="9427607" y="2934176"/>
            <a:ext cx="4919186" cy="2361248"/>
          </a:xfrm>
          <a:prstGeom prst="rect">
            <a:avLst/>
          </a:prstGeom>
        </p:spPr>
      </p:pic>
      <p:sp>
        <p:nvSpPr>
          <p:cNvPr id="4" name="Text 0"/>
          <p:cNvSpPr/>
          <p:nvPr/>
        </p:nvSpPr>
        <p:spPr>
          <a:xfrm>
            <a:off x="793790" y="940832"/>
            <a:ext cx="6237684" cy="779621"/>
          </a:xfrm>
          <a:prstGeom prst="rect">
            <a:avLst/>
          </a:prstGeom>
          <a:noFill/>
          <a:ln/>
        </p:spPr>
        <p:txBody>
          <a:bodyPr wrap="none" lIns="0" tIns="0" rIns="0" bIns="0" rtlCol="0" anchor="t"/>
          <a:lstStyle/>
          <a:p>
            <a:pPr marL="0" indent="0" algn="l">
              <a:lnSpc>
                <a:spcPts val="6100"/>
              </a:lnSpc>
              <a:buNone/>
            </a:pPr>
            <a:r>
              <a:rPr lang="en-US" sz="4900" b="1" dirty="0">
                <a:solidFill>
                  <a:srgbClr val="F95F88"/>
                </a:solidFill>
                <a:latin typeface="Petrona Bold" pitchFamily="34" charset="0"/>
                <a:ea typeface="Petrona Bold" pitchFamily="34" charset="-122"/>
                <a:cs typeface="Petrona Bold" pitchFamily="34" charset="-120"/>
              </a:rPr>
              <a:t>My Activity</a:t>
            </a:r>
            <a:endParaRPr lang="en-US" sz="4900" dirty="0"/>
          </a:p>
        </p:txBody>
      </p:sp>
      <p:sp>
        <p:nvSpPr>
          <p:cNvPr id="5" name="Shape 1"/>
          <p:cNvSpPr/>
          <p:nvPr/>
        </p:nvSpPr>
        <p:spPr>
          <a:xfrm>
            <a:off x="1048941" y="2060615"/>
            <a:ext cx="30480" cy="5228034"/>
          </a:xfrm>
          <a:prstGeom prst="roundRect">
            <a:avLst>
              <a:gd name="adj" fmla="val 312558"/>
            </a:avLst>
          </a:prstGeom>
          <a:solidFill>
            <a:srgbClr val="C6BDDA"/>
          </a:solidFill>
          <a:ln/>
        </p:spPr>
      </p:sp>
      <p:sp>
        <p:nvSpPr>
          <p:cNvPr id="6" name="Shape 2"/>
          <p:cNvSpPr/>
          <p:nvPr/>
        </p:nvSpPr>
        <p:spPr>
          <a:xfrm>
            <a:off x="793790" y="2060615"/>
            <a:ext cx="510302" cy="510302"/>
          </a:xfrm>
          <a:prstGeom prst="roundRect">
            <a:avLst>
              <a:gd name="adj" fmla="val 18669"/>
            </a:avLst>
          </a:prstGeom>
          <a:solidFill>
            <a:srgbClr val="E0D7F4"/>
          </a:solidFill>
          <a:ln w="7620">
            <a:solidFill>
              <a:srgbClr val="C6BDDA"/>
            </a:solidFill>
            <a:prstDash val="solid"/>
          </a:ln>
        </p:spPr>
      </p:sp>
      <p:sp>
        <p:nvSpPr>
          <p:cNvPr id="7" name="Text 3"/>
          <p:cNvSpPr/>
          <p:nvPr/>
        </p:nvSpPr>
        <p:spPr>
          <a:xfrm>
            <a:off x="861834" y="2081867"/>
            <a:ext cx="374213" cy="467797"/>
          </a:xfrm>
          <a:prstGeom prst="rect">
            <a:avLst/>
          </a:prstGeom>
          <a:noFill/>
          <a:ln/>
        </p:spPr>
        <p:txBody>
          <a:bodyPr wrap="none" lIns="0" tIns="0" rIns="0" bIns="0" rtlCol="0" anchor="t"/>
          <a:lstStyle/>
          <a:p>
            <a:pPr marL="0" indent="0" algn="ctr">
              <a:lnSpc>
                <a:spcPts val="2900"/>
              </a:lnSpc>
              <a:buNone/>
            </a:pPr>
            <a:r>
              <a:rPr lang="en-US" sz="2900" b="1" dirty="0">
                <a:solidFill>
                  <a:srgbClr val="272525"/>
                </a:solidFill>
                <a:latin typeface="Petrona Bold" pitchFamily="34" charset="0"/>
                <a:ea typeface="Petrona Bold" pitchFamily="34" charset="-122"/>
                <a:cs typeface="Petrona Bold" pitchFamily="34" charset="-120"/>
              </a:rPr>
              <a:t>1</a:t>
            </a:r>
            <a:endParaRPr lang="en-US" sz="2900" dirty="0"/>
          </a:p>
        </p:txBody>
      </p:sp>
      <p:sp>
        <p:nvSpPr>
          <p:cNvPr id="8" name="Text 4"/>
          <p:cNvSpPr/>
          <p:nvPr/>
        </p:nvSpPr>
        <p:spPr>
          <a:xfrm>
            <a:off x="1757720" y="2138482"/>
            <a:ext cx="3118842" cy="389930"/>
          </a:xfrm>
          <a:prstGeom prst="rect">
            <a:avLst/>
          </a:prstGeom>
          <a:noFill/>
          <a:ln/>
        </p:spPr>
        <p:txBody>
          <a:bodyPr wrap="none" lIns="0" tIns="0" rIns="0" bIns="0" rtlCol="0" anchor="t"/>
          <a:lstStyle/>
          <a:p>
            <a:pPr marL="0" indent="0" algn="l">
              <a:lnSpc>
                <a:spcPts val="3050"/>
              </a:lnSpc>
              <a:buNone/>
            </a:pPr>
            <a:r>
              <a:rPr lang="en-US" sz="2450" b="1" dirty="0">
                <a:solidFill>
                  <a:srgbClr val="272525"/>
                </a:solidFill>
                <a:latin typeface="Petrona Bold" pitchFamily="34" charset="0"/>
                <a:ea typeface="Petrona Bold" pitchFamily="34" charset="-122"/>
                <a:cs typeface="Petrona Bold" pitchFamily="34" charset="-120"/>
              </a:rPr>
              <a:t>Appointment History</a:t>
            </a:r>
            <a:endParaRPr lang="en-US" sz="2450" dirty="0"/>
          </a:p>
        </p:txBody>
      </p:sp>
      <p:sp>
        <p:nvSpPr>
          <p:cNvPr id="9" name="Text 5"/>
          <p:cNvSpPr/>
          <p:nvPr/>
        </p:nvSpPr>
        <p:spPr>
          <a:xfrm>
            <a:off x="1757720" y="2664500"/>
            <a:ext cx="6592491"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View past and upcoming consultations.</a:t>
            </a:r>
            <a:endParaRPr lang="en-US" sz="1750" dirty="0"/>
          </a:p>
        </p:txBody>
      </p:sp>
      <p:sp>
        <p:nvSpPr>
          <p:cNvPr id="10" name="Shape 6"/>
          <p:cNvSpPr/>
          <p:nvPr/>
        </p:nvSpPr>
        <p:spPr>
          <a:xfrm>
            <a:off x="793790" y="3481030"/>
            <a:ext cx="510302" cy="510302"/>
          </a:xfrm>
          <a:prstGeom prst="roundRect">
            <a:avLst>
              <a:gd name="adj" fmla="val 18669"/>
            </a:avLst>
          </a:prstGeom>
          <a:solidFill>
            <a:srgbClr val="E0D7F4"/>
          </a:solidFill>
          <a:ln w="7620">
            <a:solidFill>
              <a:srgbClr val="C6BDDA"/>
            </a:solidFill>
            <a:prstDash val="solid"/>
          </a:ln>
        </p:spPr>
      </p:sp>
      <p:sp>
        <p:nvSpPr>
          <p:cNvPr id="11" name="Text 7"/>
          <p:cNvSpPr/>
          <p:nvPr/>
        </p:nvSpPr>
        <p:spPr>
          <a:xfrm>
            <a:off x="861834" y="3502283"/>
            <a:ext cx="374213" cy="467797"/>
          </a:xfrm>
          <a:prstGeom prst="rect">
            <a:avLst/>
          </a:prstGeom>
          <a:noFill/>
          <a:ln/>
        </p:spPr>
        <p:txBody>
          <a:bodyPr wrap="none" lIns="0" tIns="0" rIns="0" bIns="0" rtlCol="0" anchor="t"/>
          <a:lstStyle/>
          <a:p>
            <a:pPr marL="0" indent="0" algn="ctr">
              <a:lnSpc>
                <a:spcPts val="2900"/>
              </a:lnSpc>
              <a:buNone/>
            </a:pPr>
            <a:r>
              <a:rPr lang="en-US" sz="2900" b="1" dirty="0">
                <a:solidFill>
                  <a:srgbClr val="272525"/>
                </a:solidFill>
                <a:latin typeface="Petrona Bold" pitchFamily="34" charset="0"/>
                <a:ea typeface="Petrona Bold" pitchFamily="34" charset="-122"/>
                <a:cs typeface="Petrona Bold" pitchFamily="34" charset="-120"/>
              </a:rPr>
              <a:t>2</a:t>
            </a:r>
            <a:endParaRPr lang="en-US" sz="2900" dirty="0"/>
          </a:p>
        </p:txBody>
      </p:sp>
      <p:sp>
        <p:nvSpPr>
          <p:cNvPr id="12" name="Text 8"/>
          <p:cNvSpPr/>
          <p:nvPr/>
        </p:nvSpPr>
        <p:spPr>
          <a:xfrm>
            <a:off x="1757720" y="3558897"/>
            <a:ext cx="3118842" cy="389930"/>
          </a:xfrm>
          <a:prstGeom prst="rect">
            <a:avLst/>
          </a:prstGeom>
          <a:noFill/>
          <a:ln/>
        </p:spPr>
        <p:txBody>
          <a:bodyPr wrap="none" lIns="0" tIns="0" rIns="0" bIns="0" rtlCol="0" anchor="t"/>
          <a:lstStyle/>
          <a:p>
            <a:pPr marL="0" indent="0" algn="l">
              <a:lnSpc>
                <a:spcPts val="3050"/>
              </a:lnSpc>
              <a:buNone/>
            </a:pPr>
            <a:r>
              <a:rPr lang="en-US" sz="2450" b="1" dirty="0">
                <a:solidFill>
                  <a:srgbClr val="272525"/>
                </a:solidFill>
                <a:latin typeface="Petrona Bold" pitchFamily="34" charset="0"/>
                <a:ea typeface="Petrona Bold" pitchFamily="34" charset="-122"/>
                <a:cs typeface="Petrona Bold" pitchFamily="34" charset="-120"/>
              </a:rPr>
              <a:t>Interaction Timeline</a:t>
            </a:r>
            <a:endParaRPr lang="en-US" sz="2450" dirty="0"/>
          </a:p>
        </p:txBody>
      </p:sp>
      <p:sp>
        <p:nvSpPr>
          <p:cNvPr id="13" name="Text 9"/>
          <p:cNvSpPr/>
          <p:nvPr/>
        </p:nvSpPr>
        <p:spPr>
          <a:xfrm>
            <a:off x="1757720" y="4084915"/>
            <a:ext cx="6592491"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Track communications, policy changes, and claims.</a:t>
            </a:r>
            <a:endParaRPr lang="en-US" sz="1750" dirty="0"/>
          </a:p>
        </p:txBody>
      </p:sp>
      <p:sp>
        <p:nvSpPr>
          <p:cNvPr id="14" name="Shape 10"/>
          <p:cNvSpPr/>
          <p:nvPr/>
        </p:nvSpPr>
        <p:spPr>
          <a:xfrm>
            <a:off x="793790" y="4901446"/>
            <a:ext cx="510302" cy="510302"/>
          </a:xfrm>
          <a:prstGeom prst="roundRect">
            <a:avLst>
              <a:gd name="adj" fmla="val 18669"/>
            </a:avLst>
          </a:prstGeom>
          <a:solidFill>
            <a:srgbClr val="E0D7F4"/>
          </a:solidFill>
          <a:ln w="7620">
            <a:solidFill>
              <a:srgbClr val="C6BDDA"/>
            </a:solidFill>
            <a:prstDash val="solid"/>
          </a:ln>
        </p:spPr>
      </p:sp>
      <p:sp>
        <p:nvSpPr>
          <p:cNvPr id="15" name="Text 11"/>
          <p:cNvSpPr/>
          <p:nvPr/>
        </p:nvSpPr>
        <p:spPr>
          <a:xfrm>
            <a:off x="861834" y="4922699"/>
            <a:ext cx="374213" cy="467797"/>
          </a:xfrm>
          <a:prstGeom prst="rect">
            <a:avLst/>
          </a:prstGeom>
          <a:noFill/>
          <a:ln/>
        </p:spPr>
        <p:txBody>
          <a:bodyPr wrap="none" lIns="0" tIns="0" rIns="0" bIns="0" rtlCol="0" anchor="t"/>
          <a:lstStyle/>
          <a:p>
            <a:pPr marL="0" indent="0" algn="ctr">
              <a:lnSpc>
                <a:spcPts val="2900"/>
              </a:lnSpc>
              <a:buNone/>
            </a:pPr>
            <a:r>
              <a:rPr lang="en-US" sz="2900" b="1" dirty="0">
                <a:solidFill>
                  <a:srgbClr val="272525"/>
                </a:solidFill>
                <a:latin typeface="Petrona Bold" pitchFamily="34" charset="0"/>
                <a:ea typeface="Petrona Bold" pitchFamily="34" charset="-122"/>
                <a:cs typeface="Petrona Bold" pitchFamily="34" charset="-120"/>
              </a:rPr>
              <a:t>3</a:t>
            </a:r>
            <a:endParaRPr lang="en-US" sz="2900" dirty="0"/>
          </a:p>
        </p:txBody>
      </p:sp>
      <p:sp>
        <p:nvSpPr>
          <p:cNvPr id="16" name="Text 12"/>
          <p:cNvSpPr/>
          <p:nvPr/>
        </p:nvSpPr>
        <p:spPr>
          <a:xfrm>
            <a:off x="1757720" y="4979313"/>
            <a:ext cx="3118842" cy="389930"/>
          </a:xfrm>
          <a:prstGeom prst="rect">
            <a:avLst/>
          </a:prstGeom>
          <a:noFill/>
          <a:ln/>
        </p:spPr>
        <p:txBody>
          <a:bodyPr wrap="none" lIns="0" tIns="0" rIns="0" bIns="0" rtlCol="0" anchor="t"/>
          <a:lstStyle/>
          <a:p>
            <a:pPr marL="0" indent="0" algn="l">
              <a:lnSpc>
                <a:spcPts val="3050"/>
              </a:lnSpc>
              <a:buNone/>
            </a:pPr>
            <a:r>
              <a:rPr lang="en-US" sz="2450" b="1" dirty="0">
                <a:solidFill>
                  <a:srgbClr val="272525"/>
                </a:solidFill>
                <a:latin typeface="Petrona Bold" pitchFamily="34" charset="0"/>
                <a:ea typeface="Petrona Bold" pitchFamily="34" charset="-122"/>
                <a:cs typeface="Petrona Bold" pitchFamily="34" charset="-120"/>
              </a:rPr>
              <a:t>Status Updates</a:t>
            </a:r>
            <a:endParaRPr lang="en-US" sz="2450" dirty="0"/>
          </a:p>
        </p:txBody>
      </p:sp>
      <p:sp>
        <p:nvSpPr>
          <p:cNvPr id="17" name="Text 13"/>
          <p:cNvSpPr/>
          <p:nvPr/>
        </p:nvSpPr>
        <p:spPr>
          <a:xfrm>
            <a:off x="1757720" y="5505331"/>
            <a:ext cx="6592491"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See booked, completed, or cancelled appointments.</a:t>
            </a:r>
            <a:endParaRPr lang="en-US" sz="1750" dirty="0"/>
          </a:p>
        </p:txBody>
      </p:sp>
      <p:sp>
        <p:nvSpPr>
          <p:cNvPr id="18" name="Shape 14"/>
          <p:cNvSpPr/>
          <p:nvPr/>
        </p:nvSpPr>
        <p:spPr>
          <a:xfrm>
            <a:off x="793790" y="6321862"/>
            <a:ext cx="510302" cy="510302"/>
          </a:xfrm>
          <a:prstGeom prst="roundRect">
            <a:avLst>
              <a:gd name="adj" fmla="val 18669"/>
            </a:avLst>
          </a:prstGeom>
          <a:solidFill>
            <a:srgbClr val="E0D7F4"/>
          </a:solidFill>
          <a:ln w="7620">
            <a:solidFill>
              <a:srgbClr val="C6BDDA"/>
            </a:solidFill>
            <a:prstDash val="solid"/>
          </a:ln>
        </p:spPr>
      </p:sp>
      <p:sp>
        <p:nvSpPr>
          <p:cNvPr id="19" name="Text 15"/>
          <p:cNvSpPr/>
          <p:nvPr/>
        </p:nvSpPr>
        <p:spPr>
          <a:xfrm>
            <a:off x="861834" y="6343114"/>
            <a:ext cx="374213" cy="467797"/>
          </a:xfrm>
          <a:prstGeom prst="rect">
            <a:avLst/>
          </a:prstGeom>
          <a:noFill/>
          <a:ln/>
        </p:spPr>
        <p:txBody>
          <a:bodyPr wrap="none" lIns="0" tIns="0" rIns="0" bIns="0" rtlCol="0" anchor="t"/>
          <a:lstStyle/>
          <a:p>
            <a:pPr marL="0" indent="0" algn="ctr">
              <a:lnSpc>
                <a:spcPts val="2900"/>
              </a:lnSpc>
              <a:buNone/>
            </a:pPr>
            <a:r>
              <a:rPr lang="en-US" sz="2900" b="1" dirty="0">
                <a:solidFill>
                  <a:srgbClr val="272525"/>
                </a:solidFill>
                <a:latin typeface="Petrona Bold" pitchFamily="34" charset="0"/>
                <a:ea typeface="Petrona Bold" pitchFamily="34" charset="-122"/>
                <a:cs typeface="Petrona Bold" pitchFamily="34" charset="-120"/>
              </a:rPr>
              <a:t>4</a:t>
            </a:r>
            <a:endParaRPr lang="en-US" sz="2900" dirty="0"/>
          </a:p>
        </p:txBody>
      </p:sp>
      <p:sp>
        <p:nvSpPr>
          <p:cNvPr id="20" name="Text 16"/>
          <p:cNvSpPr/>
          <p:nvPr/>
        </p:nvSpPr>
        <p:spPr>
          <a:xfrm>
            <a:off x="1757720" y="6399728"/>
            <a:ext cx="3118842" cy="389930"/>
          </a:xfrm>
          <a:prstGeom prst="rect">
            <a:avLst/>
          </a:prstGeom>
          <a:noFill/>
          <a:ln/>
        </p:spPr>
        <p:txBody>
          <a:bodyPr wrap="none" lIns="0" tIns="0" rIns="0" bIns="0" rtlCol="0" anchor="t"/>
          <a:lstStyle/>
          <a:p>
            <a:pPr marL="0" indent="0" algn="l">
              <a:lnSpc>
                <a:spcPts val="3050"/>
              </a:lnSpc>
              <a:buNone/>
            </a:pPr>
            <a:r>
              <a:rPr lang="en-US" sz="2450" b="1" dirty="0">
                <a:solidFill>
                  <a:srgbClr val="272525"/>
                </a:solidFill>
                <a:latin typeface="Petrona Bold" pitchFamily="34" charset="0"/>
                <a:ea typeface="Petrona Bold" pitchFamily="34" charset="-122"/>
                <a:cs typeface="Petrona Bold" pitchFamily="34" charset="-120"/>
              </a:rPr>
              <a:t>Transparency</a:t>
            </a:r>
            <a:endParaRPr lang="en-US" sz="2450" dirty="0"/>
          </a:p>
        </p:txBody>
      </p:sp>
      <p:sp>
        <p:nvSpPr>
          <p:cNvPr id="21" name="Text 17"/>
          <p:cNvSpPr/>
          <p:nvPr/>
        </p:nvSpPr>
        <p:spPr>
          <a:xfrm>
            <a:off x="1757720" y="6925747"/>
            <a:ext cx="6592491"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Get full visibility into all activities.</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12113" y="576382"/>
            <a:ext cx="8261747" cy="699254"/>
          </a:xfrm>
          <a:prstGeom prst="rect">
            <a:avLst/>
          </a:prstGeom>
          <a:noFill/>
          <a:ln/>
        </p:spPr>
        <p:txBody>
          <a:bodyPr wrap="none" lIns="0" tIns="0" rIns="0" bIns="0" rtlCol="0" anchor="t"/>
          <a:lstStyle/>
          <a:p>
            <a:pPr marL="0" indent="0" algn="l">
              <a:lnSpc>
                <a:spcPts val="5500"/>
              </a:lnSpc>
              <a:buNone/>
            </a:pPr>
            <a:r>
              <a:rPr lang="en-US" sz="4400" b="1" dirty="0">
                <a:solidFill>
                  <a:srgbClr val="F95F88"/>
                </a:solidFill>
                <a:latin typeface="Petrona Bold" pitchFamily="34" charset="0"/>
                <a:ea typeface="Petrona Bold" pitchFamily="34" charset="-122"/>
                <a:cs typeface="Petrona Bold" pitchFamily="34" charset="-120"/>
              </a:rPr>
              <a:t>Transforming Insurance with AI</a:t>
            </a:r>
            <a:endParaRPr lang="en-US" sz="4400" dirty="0"/>
          </a:p>
        </p:txBody>
      </p:sp>
      <p:pic>
        <p:nvPicPr>
          <p:cNvPr id="3" name="Image 0" descr="preencoded.png"/>
          <p:cNvPicPr>
            <a:picLocks noChangeAspect="1"/>
          </p:cNvPicPr>
          <p:nvPr/>
        </p:nvPicPr>
        <p:blipFill>
          <a:blip r:embed="rId3"/>
          <a:stretch>
            <a:fillRect/>
          </a:stretch>
        </p:blipFill>
        <p:spPr>
          <a:xfrm>
            <a:off x="712113" y="1549360"/>
            <a:ext cx="1017270" cy="1220748"/>
          </a:xfrm>
          <a:prstGeom prst="rect">
            <a:avLst/>
          </a:prstGeom>
        </p:spPr>
      </p:pic>
      <p:sp>
        <p:nvSpPr>
          <p:cNvPr id="4" name="Text 1"/>
          <p:cNvSpPr/>
          <p:nvPr/>
        </p:nvSpPr>
        <p:spPr>
          <a:xfrm>
            <a:off x="1911787" y="1752719"/>
            <a:ext cx="2797612" cy="349687"/>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Petrona Bold" pitchFamily="34" charset="0"/>
                <a:ea typeface="Petrona Bold" pitchFamily="34" charset="-122"/>
                <a:cs typeface="Petrona Bold" pitchFamily="34" charset="-120"/>
              </a:rPr>
              <a:t>Unified Platform</a:t>
            </a:r>
            <a:endParaRPr lang="en-US" sz="2200" dirty="0"/>
          </a:p>
        </p:txBody>
      </p:sp>
      <p:sp>
        <p:nvSpPr>
          <p:cNvPr id="5" name="Text 2"/>
          <p:cNvSpPr/>
          <p:nvPr/>
        </p:nvSpPr>
        <p:spPr>
          <a:xfrm>
            <a:off x="1911787" y="2211824"/>
            <a:ext cx="12006501" cy="308729"/>
          </a:xfrm>
          <a:prstGeom prst="rect">
            <a:avLst/>
          </a:prstGeom>
          <a:noFill/>
          <a:ln/>
        </p:spPr>
        <p:txBody>
          <a:bodyPr wrap="none" lIns="0" tIns="0" rIns="0" bIns="0" rtlCol="0" anchor="t"/>
          <a:lstStyle/>
          <a:p>
            <a:pPr marL="0" indent="0" algn="l">
              <a:lnSpc>
                <a:spcPts val="2400"/>
              </a:lnSpc>
              <a:buNone/>
            </a:pPr>
            <a:r>
              <a:rPr lang="en-US" sz="1600" dirty="0">
                <a:solidFill>
                  <a:srgbClr val="272525"/>
                </a:solidFill>
                <a:latin typeface="Inter" pitchFamily="34" charset="0"/>
                <a:ea typeface="Inter" pitchFamily="34" charset="-122"/>
                <a:cs typeface="Inter" pitchFamily="34" charset="-120"/>
              </a:rPr>
              <a:t>Combines AI and insurance management in one intuitive system.</a:t>
            </a:r>
            <a:endParaRPr lang="en-US" sz="1600" dirty="0"/>
          </a:p>
        </p:txBody>
      </p:sp>
      <p:pic>
        <p:nvPicPr>
          <p:cNvPr id="6" name="Image 1" descr="preencoded.png"/>
          <p:cNvPicPr>
            <a:picLocks noChangeAspect="1"/>
          </p:cNvPicPr>
          <p:nvPr/>
        </p:nvPicPr>
        <p:blipFill>
          <a:blip r:embed="rId4"/>
          <a:stretch>
            <a:fillRect/>
          </a:stretch>
        </p:blipFill>
        <p:spPr>
          <a:xfrm>
            <a:off x="712113" y="2770108"/>
            <a:ext cx="1017270" cy="1220748"/>
          </a:xfrm>
          <a:prstGeom prst="rect">
            <a:avLst/>
          </a:prstGeom>
        </p:spPr>
      </p:pic>
      <p:sp>
        <p:nvSpPr>
          <p:cNvPr id="7" name="Text 3"/>
          <p:cNvSpPr/>
          <p:nvPr/>
        </p:nvSpPr>
        <p:spPr>
          <a:xfrm>
            <a:off x="1911787" y="2973467"/>
            <a:ext cx="3553658" cy="349687"/>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Petrona Bold" pitchFamily="34" charset="0"/>
                <a:ea typeface="Petrona Bold" pitchFamily="34" charset="-122"/>
                <a:cs typeface="Petrona Bold" pitchFamily="34" charset="-120"/>
              </a:rPr>
              <a:t>Enhanced Decision-Making</a:t>
            </a:r>
            <a:endParaRPr lang="en-US" sz="2200" dirty="0"/>
          </a:p>
        </p:txBody>
      </p:sp>
      <p:sp>
        <p:nvSpPr>
          <p:cNvPr id="8" name="Text 4"/>
          <p:cNvSpPr/>
          <p:nvPr/>
        </p:nvSpPr>
        <p:spPr>
          <a:xfrm>
            <a:off x="1911787" y="3432572"/>
            <a:ext cx="12006501" cy="308729"/>
          </a:xfrm>
          <a:prstGeom prst="rect">
            <a:avLst/>
          </a:prstGeom>
          <a:noFill/>
          <a:ln/>
        </p:spPr>
        <p:txBody>
          <a:bodyPr wrap="none" lIns="0" tIns="0" rIns="0" bIns="0" rtlCol="0" anchor="t"/>
          <a:lstStyle/>
          <a:p>
            <a:pPr marL="0" indent="0" algn="l">
              <a:lnSpc>
                <a:spcPts val="2400"/>
              </a:lnSpc>
              <a:buNone/>
            </a:pPr>
            <a:r>
              <a:rPr lang="en-US" sz="1600" dirty="0">
                <a:solidFill>
                  <a:srgbClr val="272525"/>
                </a:solidFill>
                <a:latin typeface="Inter" pitchFamily="34" charset="0"/>
                <a:ea typeface="Inter" pitchFamily="34" charset="-122"/>
                <a:cs typeface="Inter" pitchFamily="34" charset="-120"/>
              </a:rPr>
              <a:t>Delivers intelligent insights, recommendations, and guidance.</a:t>
            </a:r>
            <a:endParaRPr lang="en-US" sz="1600" dirty="0"/>
          </a:p>
        </p:txBody>
      </p:sp>
      <p:pic>
        <p:nvPicPr>
          <p:cNvPr id="9" name="Image 2" descr="preencoded.png"/>
          <p:cNvPicPr>
            <a:picLocks noChangeAspect="1"/>
          </p:cNvPicPr>
          <p:nvPr/>
        </p:nvPicPr>
        <p:blipFill>
          <a:blip r:embed="rId5"/>
          <a:stretch>
            <a:fillRect/>
          </a:stretch>
        </p:blipFill>
        <p:spPr>
          <a:xfrm>
            <a:off x="712113" y="3990856"/>
            <a:ext cx="1017270" cy="1220748"/>
          </a:xfrm>
          <a:prstGeom prst="rect">
            <a:avLst/>
          </a:prstGeom>
        </p:spPr>
      </p:pic>
      <p:sp>
        <p:nvSpPr>
          <p:cNvPr id="10" name="Text 5"/>
          <p:cNvSpPr/>
          <p:nvPr/>
        </p:nvSpPr>
        <p:spPr>
          <a:xfrm>
            <a:off x="1911787" y="4194215"/>
            <a:ext cx="2797612" cy="349687"/>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Petrona Bold" pitchFamily="34" charset="0"/>
                <a:ea typeface="Petrona Bold" pitchFamily="34" charset="-122"/>
                <a:cs typeface="Petrona Bold" pitchFamily="34" charset="-120"/>
              </a:rPr>
              <a:t>Fraud Reduction</a:t>
            </a:r>
            <a:endParaRPr lang="en-US" sz="2200" dirty="0"/>
          </a:p>
        </p:txBody>
      </p:sp>
      <p:sp>
        <p:nvSpPr>
          <p:cNvPr id="11" name="Text 6"/>
          <p:cNvSpPr/>
          <p:nvPr/>
        </p:nvSpPr>
        <p:spPr>
          <a:xfrm>
            <a:off x="1911787" y="4653320"/>
            <a:ext cx="12006501" cy="308729"/>
          </a:xfrm>
          <a:prstGeom prst="rect">
            <a:avLst/>
          </a:prstGeom>
          <a:noFill/>
          <a:ln/>
        </p:spPr>
        <p:txBody>
          <a:bodyPr wrap="none" lIns="0" tIns="0" rIns="0" bIns="0" rtlCol="0" anchor="t"/>
          <a:lstStyle/>
          <a:p>
            <a:pPr marL="0" indent="0" algn="l">
              <a:lnSpc>
                <a:spcPts val="2400"/>
              </a:lnSpc>
              <a:buNone/>
            </a:pPr>
            <a:r>
              <a:rPr lang="en-US" sz="1600" dirty="0">
                <a:solidFill>
                  <a:srgbClr val="272525"/>
                </a:solidFill>
                <a:latin typeface="Inter" pitchFamily="34" charset="0"/>
                <a:ea typeface="Inter" pitchFamily="34" charset="-122"/>
                <a:cs typeface="Inter" pitchFamily="34" charset="-120"/>
              </a:rPr>
              <a:t>Automates risk analysis and cuts fraud and manual work.</a:t>
            </a:r>
            <a:endParaRPr lang="en-US" sz="1600" dirty="0"/>
          </a:p>
        </p:txBody>
      </p:sp>
      <p:pic>
        <p:nvPicPr>
          <p:cNvPr id="12" name="Image 3" descr="preencoded.png"/>
          <p:cNvPicPr>
            <a:picLocks noChangeAspect="1"/>
          </p:cNvPicPr>
          <p:nvPr/>
        </p:nvPicPr>
        <p:blipFill>
          <a:blip r:embed="rId6"/>
          <a:stretch>
            <a:fillRect/>
          </a:stretch>
        </p:blipFill>
        <p:spPr>
          <a:xfrm>
            <a:off x="712113" y="5211604"/>
            <a:ext cx="1017270" cy="1220748"/>
          </a:xfrm>
          <a:prstGeom prst="rect">
            <a:avLst/>
          </a:prstGeom>
        </p:spPr>
      </p:pic>
      <p:sp>
        <p:nvSpPr>
          <p:cNvPr id="13" name="Text 7"/>
          <p:cNvSpPr/>
          <p:nvPr/>
        </p:nvSpPr>
        <p:spPr>
          <a:xfrm>
            <a:off x="1911787" y="5414963"/>
            <a:ext cx="2797612" cy="349687"/>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Petrona Bold" pitchFamily="34" charset="0"/>
                <a:ea typeface="Petrona Bold" pitchFamily="34" charset="-122"/>
                <a:cs typeface="Petrona Bold" pitchFamily="34" charset="-120"/>
              </a:rPr>
              <a:t>Improved Experience</a:t>
            </a:r>
            <a:endParaRPr lang="en-US" sz="2200" dirty="0"/>
          </a:p>
        </p:txBody>
      </p:sp>
      <p:sp>
        <p:nvSpPr>
          <p:cNvPr id="14" name="Text 8"/>
          <p:cNvSpPr/>
          <p:nvPr/>
        </p:nvSpPr>
        <p:spPr>
          <a:xfrm>
            <a:off x="1911787" y="5874067"/>
            <a:ext cx="12006501" cy="308729"/>
          </a:xfrm>
          <a:prstGeom prst="rect">
            <a:avLst/>
          </a:prstGeom>
          <a:noFill/>
          <a:ln/>
        </p:spPr>
        <p:txBody>
          <a:bodyPr wrap="none" lIns="0" tIns="0" rIns="0" bIns="0" rtlCol="0" anchor="t"/>
          <a:lstStyle/>
          <a:p>
            <a:pPr marL="0" indent="0" algn="l">
              <a:lnSpc>
                <a:spcPts val="2400"/>
              </a:lnSpc>
              <a:buNone/>
            </a:pPr>
            <a:r>
              <a:rPr lang="en-US" sz="1600" dirty="0">
                <a:solidFill>
                  <a:srgbClr val="272525"/>
                </a:solidFill>
                <a:latin typeface="Inter" pitchFamily="34" charset="0"/>
                <a:ea typeface="Inter" pitchFamily="34" charset="-122"/>
                <a:cs typeface="Inter" pitchFamily="34" charset="-120"/>
              </a:rPr>
              <a:t>Speeds processing and personalizes service.</a:t>
            </a:r>
            <a:endParaRPr lang="en-US" sz="1600" dirty="0"/>
          </a:p>
        </p:txBody>
      </p:sp>
      <p:pic>
        <p:nvPicPr>
          <p:cNvPr id="15" name="Image 4" descr="preencoded.png"/>
          <p:cNvPicPr>
            <a:picLocks noChangeAspect="1"/>
          </p:cNvPicPr>
          <p:nvPr/>
        </p:nvPicPr>
        <p:blipFill>
          <a:blip r:embed="rId7"/>
          <a:stretch>
            <a:fillRect/>
          </a:stretch>
        </p:blipFill>
        <p:spPr>
          <a:xfrm>
            <a:off x="712113" y="6432352"/>
            <a:ext cx="1017270" cy="1220748"/>
          </a:xfrm>
          <a:prstGeom prst="rect">
            <a:avLst/>
          </a:prstGeom>
        </p:spPr>
      </p:pic>
      <p:sp>
        <p:nvSpPr>
          <p:cNvPr id="16" name="Text 9"/>
          <p:cNvSpPr/>
          <p:nvPr/>
        </p:nvSpPr>
        <p:spPr>
          <a:xfrm>
            <a:off x="1911787" y="6635710"/>
            <a:ext cx="2797612" cy="349687"/>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Petrona Bold" pitchFamily="34" charset="0"/>
                <a:ea typeface="Petrona Bold" pitchFamily="34" charset="-122"/>
                <a:cs typeface="Petrona Bold" pitchFamily="34" charset="-120"/>
              </a:rPr>
              <a:t>Smart AI System</a:t>
            </a:r>
            <a:endParaRPr lang="en-US" sz="2200" dirty="0"/>
          </a:p>
        </p:txBody>
      </p:sp>
      <p:sp>
        <p:nvSpPr>
          <p:cNvPr id="17" name="Text 10"/>
          <p:cNvSpPr/>
          <p:nvPr/>
        </p:nvSpPr>
        <p:spPr>
          <a:xfrm>
            <a:off x="1911787" y="7094815"/>
            <a:ext cx="12006501" cy="308729"/>
          </a:xfrm>
          <a:prstGeom prst="rect">
            <a:avLst/>
          </a:prstGeom>
          <a:noFill/>
          <a:ln/>
        </p:spPr>
        <p:txBody>
          <a:bodyPr wrap="none" lIns="0" tIns="0" rIns="0" bIns="0" rtlCol="0" anchor="t"/>
          <a:lstStyle/>
          <a:p>
            <a:pPr marL="0" indent="0" algn="l">
              <a:lnSpc>
                <a:spcPts val="2400"/>
              </a:lnSpc>
              <a:buNone/>
            </a:pPr>
            <a:r>
              <a:rPr lang="en-US" sz="1600" dirty="0">
                <a:solidFill>
                  <a:srgbClr val="272525"/>
                </a:solidFill>
                <a:latin typeface="Inter" pitchFamily="34" charset="0"/>
                <a:ea typeface="Inter" pitchFamily="34" charset="-122"/>
                <a:cs typeface="Inter" pitchFamily="34" charset="-120"/>
              </a:rPr>
              <a:t>InsurAI</a:t>
            </a:r>
            <a:r>
              <a:rPr lang="en-US" sz="1600" b="1" dirty="0">
                <a:solidFill>
                  <a:srgbClr val="272525"/>
                </a:solidFill>
                <a:latin typeface="Inter" pitchFamily="34" charset="0"/>
                <a:ea typeface="Inter" pitchFamily="34" charset="-122"/>
                <a:cs typeface="Inter" pitchFamily="34" charset="-120"/>
              </a:rPr>
              <a:t> </a:t>
            </a:r>
            <a:r>
              <a:rPr lang="en-US" sz="1600" dirty="0">
                <a:solidFill>
                  <a:srgbClr val="272525"/>
                </a:solidFill>
                <a:latin typeface="Inter" pitchFamily="34" charset="0"/>
                <a:ea typeface="Inter" pitchFamily="34" charset="-122"/>
                <a:cs typeface="Inter" pitchFamily="34" charset="-120"/>
              </a:rPr>
              <a:t>turns traditional insurance into a smart, AI-driven system for policyholders and agents alike.</a:t>
            </a:r>
            <a:endParaRPr lang="en-US" sz="1600" dirty="0"/>
          </a:p>
        </p:txBody>
      </p:sp>
      <p:sp>
        <p:nvSpPr>
          <p:cNvPr id="18" name="Rectangle 17">
            <a:extLst>
              <a:ext uri="{FF2B5EF4-FFF2-40B4-BE49-F238E27FC236}">
                <a16:creationId xmlns:a16="http://schemas.microsoft.com/office/drawing/2014/main" id="{19870918-EF85-8A7B-2CA1-AB91EB8772AA}"/>
              </a:ext>
            </a:extLst>
          </p:cNvPr>
          <p:cNvSpPr/>
          <p:nvPr/>
        </p:nvSpPr>
        <p:spPr>
          <a:xfrm>
            <a:off x="12779022" y="7699022"/>
            <a:ext cx="1840089" cy="519289"/>
          </a:xfrm>
          <a:prstGeom prst="rect">
            <a:avLst/>
          </a:prstGeom>
          <a:solidFill>
            <a:srgbClr val="FDFAF7"/>
          </a:solidFill>
          <a:ln>
            <a:solidFill>
              <a:srgbClr val="FDFA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458</Words>
  <Application>Microsoft Office PowerPoint</Application>
  <PresentationFormat>Custom</PresentationFormat>
  <Paragraphs>82</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Petrona Bold</vt:lpstr>
      <vt:lpstr>Arial</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My System</cp:lastModifiedBy>
  <cp:revision>3</cp:revision>
  <dcterms:created xsi:type="dcterms:W3CDTF">2026-03-21T15:44:03Z</dcterms:created>
  <dcterms:modified xsi:type="dcterms:W3CDTF">2026-03-24T05:30:47Z</dcterms:modified>
</cp:coreProperties>
</file>